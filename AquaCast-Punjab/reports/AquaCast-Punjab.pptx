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Segoe UI"/>
              </a:rPr>
              <a:t>SANKALP  ·  CLIMATE-SMART AGRICULTURE  ·  WATER  ·  RURAL CREDIT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200" b="1">
                <a:solidFill>
                  <a:srgbClr val="FFFFFF"/>
                </a:solidFill>
                <a:latin typeface="Segoe UI"/>
              </a:rPr>
              <a:t>AquaCast-Punjab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>
                <a:solidFill>
                  <a:srgbClr val="B6CDE0"/>
                </a:solidFill>
                <a:latin typeface="Segoe UI"/>
              </a:rPr>
              <a:t>Forecast the aquifer 90 days out — then tell a farmer how many hours to pump,
and a bank which loans are about to go bad.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84448"/>
            <a:ext cx="2560320" cy="1298448"/>
          </a:xfrm>
          <a:prstGeom prst="roundRect">
            <a:avLst>
              <a:gd name="adj" fmla="val 6000"/>
            </a:avLst>
          </a:prstGeom>
          <a:solidFill>
            <a:srgbClr val="142C45"/>
          </a:solidFill>
          <a:ln w="12700">
            <a:solidFill>
              <a:srgbClr val="13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584448"/>
            <a:ext cx="50292" cy="129844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767328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22C55E"/>
                </a:solidFill>
                <a:latin typeface="Segoe UI"/>
              </a:rPr>
              <a:t>0.099–0.117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43708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out-of-sample RMSE
30 / 60 / 90-day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3584448"/>
            <a:ext cx="2560320" cy="1298448"/>
          </a:xfrm>
          <a:prstGeom prst="roundRect">
            <a:avLst>
              <a:gd name="adj" fmla="val 6000"/>
            </a:avLst>
          </a:prstGeom>
          <a:solidFill>
            <a:srgbClr val="142C45"/>
          </a:solidFill>
          <a:ln w="12700">
            <a:solidFill>
              <a:srgbClr val="13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5576" y="3584448"/>
            <a:ext cx="50292" cy="12984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3767328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EA5E9"/>
                </a:solidFill>
                <a:latin typeface="Segoe UI"/>
              </a:rPr>
              <a:t>+67.4%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3708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skill vs persistence
baseline (Ludhiana)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584448"/>
            <a:ext cx="2560320" cy="1298448"/>
          </a:xfrm>
          <a:prstGeom prst="roundRect">
            <a:avLst>
              <a:gd name="adj" fmla="val 6000"/>
            </a:avLst>
          </a:prstGeom>
          <a:solidFill>
            <a:srgbClr val="142C45"/>
          </a:solidFill>
          <a:ln w="12700">
            <a:solidFill>
              <a:srgbClr val="13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912" y="3584448"/>
            <a:ext cx="50292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3767328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122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3708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real CGWB wells scored
individually, not averaged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42248" y="3584448"/>
            <a:ext cx="2560320" cy="1298448"/>
          </a:xfrm>
          <a:prstGeom prst="roundRect">
            <a:avLst>
              <a:gd name="adj" fmla="val 6000"/>
            </a:avLst>
          </a:prstGeom>
          <a:solidFill>
            <a:srgbClr val="142C45"/>
          </a:solidFill>
          <a:ln w="12700">
            <a:solidFill>
              <a:srgbClr val="13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42248" y="358444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767328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Segoe UI"/>
              </a:rPr>
              <a:t>84.2%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3708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of rainfall days in the 1,828-day
frame are measured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3036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7DA2C4"/>
                </a:solidFill>
                <a:latin typeface="Segoe UI"/>
              </a:rPr>
              <a:t>PyTorch LSTM  ·  52,547 parameters  ·  1,828-day daily frame  ·  3 districts  ·  122 wells  ·  8 real Punjab rasters  ·  bilingual English / ਪੰਜਾਬੀ advisory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961888"/>
            <a:ext cx="10607040" cy="10972"/>
          </a:xfrm>
          <a:prstGeom prst="rect">
            <a:avLst/>
          </a:prstGeom>
          <a:solidFill>
            <a:srgbClr val="13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Punjab is mining its aquifer — and the paradox hides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Central Punjab pumps 2,488 MCM of groundwater a year and recharges 2,139 MCM. The 349 MCM gap is the 0.8 m/yr the water table drops — every year, across 280,000 ha of wheat.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67462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7860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The monsoon arrives in July; the water table falls until August.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20924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A 30–40 m deep aquifer lags the monsoon by months — so everyone misreads the signal.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33298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236976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Farmers pump on a calendar, not on a forecast.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79292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Paddy is transplanted in May, before the rain, when the aquifer is at its lowest.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399135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895344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Lenders price crop loans on rainfall, not on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137660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Nothing in the credit file says 'this tubewell goes dry in 400 days'.</a:t>
            </a:r>
          </a:p>
        </p:txBody>
      </p:sp>
      <p:pic>
        <p:nvPicPr>
          <p:cNvPr id="16" name="Picture 15" descr="seasonal_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452" y="1499616"/>
            <a:ext cx="5048486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80" y="3931920"/>
            <a:ext cx="5285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Recharge peaks in July–August, but the water table is at its deepest exactly then: the monsoon's recharge has not reached 36 m down yet.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Four modules, one contract: measured data in, an action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2542032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73936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EA5E9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79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0592"/>
            <a:ext cx="2084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3 rain gauges · 5 temp stations
31 CGWB readings · 22 districts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2231136"/>
            <a:ext cx="182880" cy="320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5544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54480"/>
            <a:ext cx="2542032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773936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B8A6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1579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RECONSTRUCT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450592"/>
            <a:ext cx="2084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FAO-56 water balance, gamma-lagged recharge,
calibrated to the CGWB hydrographs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2" y="2231136"/>
            <a:ext cx="182880" cy="320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5544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554480"/>
            <a:ext cx="2542032" cy="4572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773936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369A1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1579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450592"/>
            <a:ext cx="2084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2-layer LSTM, 60-day window,
3 direct horizons (30/60/90 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87384" y="2231136"/>
            <a:ext cx="182880" cy="320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15984" y="15544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15984" y="1554480"/>
            <a:ext cx="2542032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1773936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1579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450592"/>
            <a:ext cx="2084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Pumping quota · bilingual WhatsApp/SMS
· well-level risk · credit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3101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Every row of the training frame carries a provenance flag. The dashboard prints the ledger — you can always see which days are measured and which are physics-filled.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3767328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58521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Real or modelled?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Shipped source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Rainfall (daily)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India-WRIS, 3 gauges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Temperature (daily Tmax/Tmin)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Punjab SW telemetry, 5 stations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Water level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Measured (sparse)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31 in-situ CGWB readings, 10 wells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District / block polygons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India-WRIS, 22 Punjab districts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Observation-well network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122 CGWB wells inside Sangrur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Aquifer thickness, depth to 1st aquifer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CGWB rasters → 440 m grid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Soil texture / depth / slope / erosion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NBSS&amp;LUP rasters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Daily water-level trajectory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9E0B"/>
                          </a:solidFill>
                          <a:latin typeface="Segoe UI"/>
                        </a:rPr>
                        <a:t>Physics + ML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FAO-56 balance, calibrated to the CGWB readings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1920240"/>
          </a:xfrm>
          <a:prstGeom prst="rect">
            <a:avLst/>
          </a:prstGeom>
          <a:solidFill>
            <a:srgbClr val="13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95728"/>
            <a:ext cx="82296" cy="19202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700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EA5E9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99232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Real data, declared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75887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AD3"/>
                </a:solidFill>
                <a:latin typeface="Segoe UI"/>
              </a:rPr>
              <a:t>1,828 days · 3 rain gauges · 5 temperature stations · 31 in-situ groundwater readings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7A99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A7A9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We filled the gaps with physics — and flagged every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The WRIS telemetry is real but incomplete: rain gauges report 1,540 of 1,828 days and temperature stations 1,070. Rather than interpolate blindly, we fit a month-specific gamma rainfall model and a 7-term temperature harmonic to the measured record, then generate only the missing days.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85750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761488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84.2% of rainfall days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03804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the rest carry rainfall_src = 'generated'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51586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419856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58.5% of temperature days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62172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62,339 rows of hourly SW telemetry reduced to daily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17423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78224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Zero silent imputation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320540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every row is auditable in the dashboard's provenance ledger</a:t>
            </a:r>
          </a:p>
        </p:txBody>
      </p:sp>
      <p:pic>
        <p:nvPicPr>
          <p:cNvPr id="16" name="Picture 15" descr="prov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63096"/>
            <a:ext cx="5623560" cy="2011567"/>
          </a:xfrm>
          <a:prstGeom prst="rect">
            <a:avLst/>
          </a:prstGeom>
        </p:spPr>
      </p:pic>
      <p:pic>
        <p:nvPicPr>
          <p:cNvPr id="17" name="Picture 16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374" y="3767328"/>
            <a:ext cx="401345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9320" y="5760720"/>
            <a:ext cx="5623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Closing the balance: 2,488 MCM/yr draft vs 2,139 MCM/yr recharge — a 349 MCM/yr structural deficit, 116% stage of extraction.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1920240"/>
          </a:xfrm>
          <a:prstGeom prst="rect">
            <a:avLst/>
          </a:prstGeom>
          <a:solidFill>
            <a:srgbClr val="13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95728"/>
            <a:ext cx="82296" cy="19202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700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EA5E9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99232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The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75887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AD3"/>
                </a:solidFill>
                <a:latin typeface="Segoe UI"/>
              </a:rPr>
              <a:t>A PyTorch LSTM that earns its place — and we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7A99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A7A9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Physics-prior residual learning, on a 60-day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62306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LSTMs extrapolate linear trends badly.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69364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So the calibrated CGWB depletion rate is subtracted from the target and re-added analytically. The network only models the stationary seasonal residual.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28142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85416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The calendar is a feature, not a nuisance.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27732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sin/cos of day-of-year over the whole window tells the net whether the next 90 days are a Rabi drawdown or a monsoon recovery.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93979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843784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Three districts pooled, one network.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86100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1,713 training sequences instead of 571 — the single biggest win.</a:t>
            </a:r>
          </a:p>
        </p:txBody>
      </p:sp>
      <p:pic>
        <p:nvPicPr>
          <p:cNvPr id="15" name="Picture 14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657" y="1499616"/>
            <a:ext cx="4020301" cy="2286000"/>
          </a:xfrm>
          <a:prstGeom prst="rect">
            <a:avLst/>
          </a:prstGeom>
        </p:spPr>
      </p:pic>
      <p:pic>
        <p:nvPicPr>
          <p:cNvPr id="16" name="Picture 15" descr="hero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399" y="3493008"/>
            <a:ext cx="4991297" cy="233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592531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Five years of reconstructed water table (blue), the 31 in-situ CGWB readings (red rings), and the live 90-day forecast with its MC-dropout 95% band (amber).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OUT-OF-SAMPLE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0.099–0.117 m RMSE at 90 days, 0.935–0.942 R²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544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51560"/>
                <a:gridCol w="1051560"/>
                <a:gridCol w="1051560"/>
                <a:gridCol w="1691640"/>
                <a:gridCol w="1051560"/>
                <a:gridCol w="1371600"/>
                <a:gridCol w="16459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District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t+30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t+60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t+90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Overall RMSE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R²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Trend acc.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Skill vs persistence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Sangrur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0.122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0.103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0.117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0.935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91.7%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+67.4%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Ludhiana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0.092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0.098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0.107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0.099 m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0.939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90.6%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+70.9%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Moga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0.106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0.114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0.942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91.6%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+68.2%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Persistence baseline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0.341–0.359 m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4.2%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horiz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827" y="3127248"/>
            <a:ext cx="423732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71231" y="3127248"/>
            <a:ext cx="4059936" cy="2103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33284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369A1"/>
                </a:solidFill>
                <a:latin typeface="Segoe UI"/>
              </a:rPr>
              <a:t>Why error FALLS with 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3639311"/>
            <a:ext cx="35661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The spread of the target grows with horizon (σ 0.21 m → 0.43 m) while the unpredictable part does not.
At 30 days the change is driven by individual rain events a 60-day window cannot contain. At 90 days it is driven by the Rabi/monsoon calendar — which is predictable.
Per-horizon R² therefore rises 0.65 → 0.94.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MODEL BAKE-OFF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We trained the boring baselines too. The LSTM still wins.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bak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41" y="1554480"/>
            <a:ext cx="6050172" cy="26060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99248" y="1600200"/>
          <a:ext cx="416966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58368"/>
                <a:gridCol w="603504"/>
                <a:gridCol w="566928"/>
                <a:gridCol w="60350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RMSE (m)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MAE (m)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Trend acc.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Params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C55E"/>
                          </a:solidFill>
                          <a:latin typeface="Segoe UI"/>
                        </a:rPr>
                        <a:t>LSTM — pooled 3 districts (shipped)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C55E"/>
                          </a:solidFill>
                          <a:latin typeface="Segoe UI"/>
                        </a:rPr>
                        <a:t>0.1171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0.0919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91.7%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52,547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Linear probe (flatten window)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0.1427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0.1062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93.4%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1,443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GRU (2-layer)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0.1575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0.1257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92.8%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39,363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LSTM — Sangrur only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0.1584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0.1352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87.7%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52,547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Persistence (naive)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0.3591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0.3020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4.2%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99248" y="3950208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Identical data, identical split, identical budget. The recurrent model beats the linear probe by 17.9% and a 2-layer GRU by 25.7%.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3891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389120"/>
            <a:ext cx="50292" cy="9601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5720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The honest caveat: the LSTM only wins once the three districts are pooled. Train the identical architecture on Sangrur alone and it scores 0.158 m — worse than the linear probe. Pooling is not a footnote, it is the difference.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Open the black box: what the network actually 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53" y="1554480"/>
            <a:ext cx="6009148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99248" y="15544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Four interpretability views, all live</a:t>
            </a:r>
          </a:p>
        </p:txBody>
      </p:sp>
      <p:sp>
        <p:nvSpPr>
          <p:cNvPr id="8" name="Oval 7"/>
          <p:cNvSpPr/>
          <p:nvPr/>
        </p:nvSpPr>
        <p:spPr>
          <a:xfrm>
            <a:off x="7699248" y="206197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96596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Permutation importance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20827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shuffle each channel, measure the RMSE damage in metres. The calendar carries 72.1%.</a:t>
            </a:r>
          </a:p>
        </p:txBody>
      </p:sp>
      <p:sp>
        <p:nvSpPr>
          <p:cNvPr id="11" name="Oval 10"/>
          <p:cNvSpPr/>
          <p:nvPr/>
        </p:nvSpPr>
        <p:spPr>
          <a:xfrm>
            <a:off x="7699248" y="270205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260604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Live training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84835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train vs validation RMSE, epoch by epoch, from the shipped history.</a:t>
            </a:r>
          </a:p>
        </p:txBody>
      </p:sp>
      <p:sp>
        <p:nvSpPr>
          <p:cNvPr id="14" name="Oval 13"/>
          <p:cNvSpPr/>
          <p:nvPr/>
        </p:nvSpPr>
        <p:spPr>
          <a:xfrm>
            <a:off x="7699248" y="334213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324612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MC-dropout bands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48843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60 stochastic forward passes — a real epistemic σ, not a ±5% fan chart.</a:t>
            </a:r>
          </a:p>
        </p:txBody>
      </p:sp>
      <p:sp>
        <p:nvSpPr>
          <p:cNvPr id="17" name="Oval 16"/>
          <p:cNvSpPr/>
          <p:nvPr/>
        </p:nvSpPr>
        <p:spPr>
          <a:xfrm>
            <a:off x="7699248" y="398221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388620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Gradient saliency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412851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input-gradient attribution over the 60-day window.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34840"/>
            <a:ext cx="6858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Read it honestly: doy_sin dominates at 46.0%. That is not a bug — a Punjab aquifer is a seasonal machine, and knowing where you are in the Rabi calendar is most of the forecast. Weather moves the residual.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ENGINEERING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We audited our own evaluation. It was wrong twice.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self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14320"/>
            <a:ext cx="5852160" cy="24863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554480"/>
            <a:ext cx="4956048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554480"/>
            <a:ext cx="50292" cy="14813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7373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Stale forecast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2066544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build_sequences stops 90 days short of the record because every training window needs a realised target — so its last row forecast from 90 days BEFORE today. The dashboard's live forecast read -0.01 m. With live_window() it reads -0.43 m, which is what October→December has done in every year of the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182112"/>
            <a:ext cx="4956048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182112"/>
            <a:ext cx="50292" cy="14813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36499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Trend-prior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3694176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predict() re-adds the depletion prior (rate × horizon), but the ground truth it was scored against did not. That faked a +0.19 m bias and published an RMSE of 0.21 m where the true figure was 0.117 m. R² went 0.789 → 0.935; skill 38.2% → 67.4%.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98848"/>
            <a:ext cx="5852160" cy="8686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50292" cy="8686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681728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Both are now regression-tested in tests/smoke_test.py — 24 assertions that fail if either comes 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1920240"/>
          </a:xfrm>
          <a:prstGeom prst="rect">
            <a:avLst/>
          </a:prstGeom>
          <a:solidFill>
            <a:srgbClr val="13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95728"/>
            <a:ext cx="82296" cy="19202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700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EA5E9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99232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The wow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75887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AD3"/>
                </a:solidFill>
                <a:latin typeface="Segoe UI"/>
              </a:rPr>
              <a:t>Four things no other team's prototype will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7A99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A7A9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WOW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WOW 01 · The Digital Twin — policy levers in under 0.2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digital_t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535" y="1554480"/>
            <a:ext cx="4811345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07808" y="1554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Six levers, instantly re-solved</a:t>
            </a:r>
          </a:p>
        </p:txBody>
      </p:sp>
      <p:sp>
        <p:nvSpPr>
          <p:cNvPr id="8" name="Oval 7"/>
          <p:cNvSpPr/>
          <p:nvPr/>
        </p:nvSpPr>
        <p:spPr>
          <a:xfrm>
            <a:off x="7607808" y="206197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1965960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Micro-irrigation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208276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0–80%, changes application efficiency</a:t>
            </a:r>
          </a:p>
        </p:txBody>
      </p:sp>
      <p:sp>
        <p:nvSpPr>
          <p:cNvPr id="11" name="Oval 10"/>
          <p:cNvSpPr/>
          <p:nvPr/>
        </p:nvSpPr>
        <p:spPr>
          <a:xfrm>
            <a:off x="7607808" y="2665475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2569463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Monsoon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811779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±30% on monsoon recharge</a:t>
            </a:r>
          </a:p>
        </p:txBody>
      </p:sp>
      <p:sp>
        <p:nvSpPr>
          <p:cNvPr id="14" name="Oval 13"/>
          <p:cNvSpPr/>
          <p:nvPr/>
        </p:nvSpPr>
        <p:spPr>
          <a:xfrm>
            <a:off x="7607808" y="326897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3172966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Paddy transplant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415282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0–30 days later, off the pre-monsoon trough</a:t>
            </a:r>
          </a:p>
        </p:txBody>
      </p:sp>
      <p:sp>
        <p:nvSpPr>
          <p:cNvPr id="17" name="Oval 16"/>
          <p:cNvSpPr/>
          <p:nvPr/>
        </p:nvSpPr>
        <p:spPr>
          <a:xfrm>
            <a:off x="7607808" y="3872481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3776469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Canal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4018785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0–100% of the commanded supply</a:t>
            </a:r>
          </a:p>
        </p:txBody>
      </p:sp>
      <p:sp>
        <p:nvSpPr>
          <p:cNvPr id="20" name="Oval 19"/>
          <p:cNvSpPr/>
          <p:nvPr/>
        </p:nvSpPr>
        <p:spPr>
          <a:xfrm>
            <a:off x="7607808" y="4475984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4379972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Horizon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4622288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90 / 180 / 365 / 730 days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" y="3858768"/>
          <a:ext cx="6766560" cy="14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280160"/>
                <a:gridCol w="15544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Scenario (365 days)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End level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Water saved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Standard Flood Irrigation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36.51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Drip 40% + 15-day paddy shift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36.37 m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+0.14 m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Micro-Drip Shift (40%)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36.39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+0.12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607808" y="3858768"/>
            <a:ext cx="4023360" cy="1389888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07808" y="3858768"/>
            <a:ext cx="50292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059936"/>
            <a:ext cx="35661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The honest finding: the levers help far less than intuition says. Cut pumping and recharge falls too, because irrigation return flow feeds the aquifer. We surface that instead of hiding it — it is the most policy-relevant thing in the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WOW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WOW 02 · One district forecast, 122 individual wells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wel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69" y="1554480"/>
            <a:ext cx="2544437" cy="2651760"/>
          </a:xfrm>
          <a:prstGeom prst="rect">
            <a:avLst/>
          </a:prstGeom>
        </p:spPr>
      </p:pic>
      <p:pic>
        <p:nvPicPr>
          <p:cNvPr id="7" name="Picture 6" descr="block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941" y="1554480"/>
            <a:ext cx="5737333" cy="2651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407408"/>
          <a:ext cx="41605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51560"/>
                <a:gridCol w="9601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Block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Mean risk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Wells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ANDANA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F4444"/>
                          </a:solidFill>
                          <a:latin typeface="Segoe UI"/>
                        </a:rPr>
                        <a:t>51.5%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MOONAK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9E0B"/>
                          </a:solidFill>
                          <a:latin typeface="Segoe UI"/>
                        </a:rPr>
                        <a:t>41.9%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SUNAM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9E0B"/>
                          </a:solidFill>
                          <a:latin typeface="Segoe UI"/>
                        </a:rPr>
                        <a:t>22.7%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SANGRUR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16.5%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DHURI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12.5%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BARNALA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10.8%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56048" y="4407408"/>
            <a:ext cx="6675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Each of the 122 real CGWB wells keeps its own lithology offset, derived from the wells that have in-situ readings and IDW-interpolated to the rest. The district forecast is then applied to every well individually — so ANDANA block sits at 51.5% pump-failure risk while PAKHOWAL sits at 0.0%, in the same district, on the same day. 12 wells are above 50%.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WOW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WOW 03 · The advisory a farmer can actually act on — in Punjabi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4160520" cy="3931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4160520" cy="38404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10512"/>
            <a:ext cx="4160520" cy="1463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18488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WhatsApp ·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084832"/>
            <a:ext cx="37581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0F172A"/>
                </a:solidFill>
                <a:latin typeface="Consolas"/>
              </a:rPr>
              <a:t>*AquaCast Alert — Sangrur*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📅 02 Oct 2026 → 31 Dec 2026 (+90 d)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94A3B8"/>
                </a:solidFill>
                <a:latin typeface="Consolas"/>
              </a:rPr>
              <a:t>━━━━━━━━━━━━━━━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💧 Water table: *36.0 → 35.6* m bgl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🔴 Aquifer zone: *OVER-EXPLOITED*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🚰 Pump quota: *1.7 h/week/acre*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   (~10 h run, every 40 days)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   pump delivery at this depth: 25 m³/h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⚠️ Pump failure risk: *0%*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🌾 Tillering / canopy development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🏦 Loan risk: 62/100 (High)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94A3B8"/>
                </a:solidFill>
                <a:latin typeface="Consolas"/>
              </a:rPr>
              <a:t>━━━━━━━━━━━━━━━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⛔ Cut pumping — aquifer below safe threshold.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💧 Shift to drip / sprinkler to cut draft 40%.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6048" y="1554480"/>
            <a:ext cx="4160520" cy="3931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56048" y="1554480"/>
            <a:ext cx="4160520" cy="384048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6048" y="1810512"/>
            <a:ext cx="4160520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618488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WhatsApp · ਪੰਜਾਬੀ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084832"/>
            <a:ext cx="37581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0F172A"/>
                </a:solidFill>
                <a:latin typeface="Nirmala UI"/>
              </a:rPr>
              <a:t>*ਐਕੁਆਕਾਸਟ ਚੇਤਾਵਨੀ — Sangrur*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Nirmala UI"/>
              </a:rPr>
              <a:t>📅 02 ਅਕਤੂ 2026 → 31 ਦਸੰ 2026 (+90 ਦਿਨ)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94A3B8"/>
                </a:solidFill>
                <a:latin typeface="Consolas"/>
              </a:rPr>
              <a:t>━━━━━━━━━━━━━━━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💧 ਪਾਣੀ ਦਾ ਪੱਧਰ: *36.0 → 35.6* ਮੀਟਰ ਹੇਠਾਂ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🔴 ਧਰਤੀ ਹੇਠਲੇ ਪਾਣੀ ਦੀ ਹਾਲਤ: *ਵੱਧ-ਖਿੱਚ*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🚰 ਟਿਊਬਵੈੱਲ ਸਮਾਂ: *1.7 ਘੰਟੇ / ਹਫ਼ਤਾ / ਏਕੜ*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Nirmala UI"/>
              </a:rPr>
              <a:t>   (~10 ਘੰਟੇ, ਹਰ 40 ਦਿਨਾਂ ਬਾਅਦ)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Nirmala UI"/>
              </a:rPr>
              <a:t>   ਇਸ ਡੂੰਘਾਈ ਤੇ ਪੰਪ ਡਿਲੀਵਰੀ: 25 ਮੀ³/ਘੰਟਾ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⚠️ ਪੰਪ ਖ਼ਰਾਬ ਹੋਣ ਦਾ ਖ਼ਤਰਾ: *0%*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🌾 ਕੱਲੀਆਂ ਨਿਕਲਣਾ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🏦 ਕਰਜ਼ੇ ਦਾ ਖ਼ਤਰਾ: 62/100 (ਉੱਚਾ)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94A3B8"/>
                </a:solidFill>
                <a:latin typeface="Consolas"/>
              </a:rPr>
              <a:t>━━━━━━━━━━━━━━━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⛔ ਪੰਪਿੰਗ ਘਟਾਓ — ਪਾਣੀ ਸੁਰੱਖਿਅਤ ਪੱਧਰ ਤੋਂ ਹੇਠਾਂ ਹੈ।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💧 ਤੁਪਕਾ / ਛਿੜਕਾਅ ਸਿੰਚਾਈ ਅਪਣਾਓ।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1554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Also shipped</a:t>
            </a:r>
          </a:p>
        </p:txBody>
      </p:sp>
      <p:sp>
        <p:nvSpPr>
          <p:cNvPr id="17" name="Oval 16"/>
          <p:cNvSpPr/>
          <p:nvPr/>
        </p:nvSpPr>
        <p:spPr>
          <a:xfrm>
            <a:off x="9345168" y="202539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2912" y="1929384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SMS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2171700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160-char version for feature phones</a:t>
            </a:r>
          </a:p>
        </p:txBody>
      </p:sp>
      <p:sp>
        <p:nvSpPr>
          <p:cNvPr id="20" name="Oval 19"/>
          <p:cNvSpPr/>
          <p:nvPr/>
        </p:nvSpPr>
        <p:spPr>
          <a:xfrm>
            <a:off x="9345168" y="261061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2514600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HTML →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2" y="2756916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printable district advisory</a:t>
            </a:r>
          </a:p>
        </p:txBody>
      </p:sp>
      <p:sp>
        <p:nvSpPr>
          <p:cNvPr id="23" name="Oval 22"/>
          <p:cNvSpPr/>
          <p:nvPr/>
        </p:nvSpPr>
        <p:spPr>
          <a:xfrm>
            <a:off x="9345168" y="319582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3099816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CSV / JSON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3342132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for the bank's own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45168" y="3428999"/>
            <a:ext cx="2286000" cy="2029968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45168" y="3428999"/>
            <a:ext cx="50292" cy="202996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2912" y="3611880"/>
            <a:ext cx="1920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Segoe UI"/>
              </a:rPr>
              <a:t>The quota is in farmer units, not mm/week.
"Run the pump 10 hours, then wait 40 days."
Discharge is derated to the head the pump actually works against (25 m³/h at 35.6 m — not the free-delivery nameplate). Deeper water means more hours and more power for the same crop.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WOW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WOW 04 · The Model Lab — we show you the receipts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356616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92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Live training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Train vs validation RMSE, epoch by epoch, read from the shipped checkpoint. Not a screenshot — the actual history object.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544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554480"/>
            <a:ext cx="3566160" cy="4572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MC-dropout bands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579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60 stochastic forward passes at inference. The ±σ you see is real model uncertainty, not a decorative fan.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5544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554480"/>
            <a:ext cx="356616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92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Permutation importance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579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Shuffle a channel, re-score, report the damage in metres. Repeats give you the error bar.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1546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154680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Gradient saliency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581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Input-gradient attribution across the 60-day window — which days moved the forecast.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1546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154680"/>
            <a:ext cx="356616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Model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581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LSTM vs GRU vs linear probe vs persistence, retrained live in the app on identical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31546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3154680"/>
            <a:ext cx="3566160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Provenance 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581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Measured vs generated days, station counts, file names — printed on the same screen as the metrics.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006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1E30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800600"/>
            <a:ext cx="50292" cy="868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92624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Why it wins rooms: a judge can click a button and watch the model train, explain itself, and lose to a linear probe on purpose. That is harder to fake than a metric.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CREDIT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The same forecast, priced: who defaults when the well goes dry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413" y="1554480"/>
            <a:ext cx="5385589" cy="26060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07808" y="1600200"/>
          <a:ext cx="4169664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685800"/>
                <a:gridCol w="749808"/>
                <a:gridCol w="548640"/>
                <a:gridCol w="658368"/>
                <a:gridCol w="65836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District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Risk score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Band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PD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Exposure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Expected loss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Sangrur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62/100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9.40%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₹191 cr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₹10.8 cr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Ludhiana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33/100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Moderate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3.27%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₹294 cr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₹5.8 cr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Moga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37/100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Moderate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3.91%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₹121 cr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₹2.8 cr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29768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297680"/>
            <a:ext cx="50292" cy="123444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22219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369A1"/>
                </a:solidFill>
                <a:latin typeface="Segoe UI"/>
              </a:rPr>
              <a:t>₹607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84064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portfolio exposure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429768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2424" y="4297680"/>
            <a:ext cx="502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4480560"/>
            <a:ext cx="22219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3.2%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5084064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portfolio-at-risk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0292" cy="1234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480560"/>
            <a:ext cx="22219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F4444"/>
                </a:solidFill>
                <a:latin typeface="Segoe UI"/>
              </a:rPr>
              <a:t>₹19.4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5084064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expected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429768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3416" y="4297680"/>
            <a:ext cx="50292" cy="1234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4480560"/>
            <a:ext cx="22219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2C55E"/>
                </a:solidFill>
                <a:latin typeface="Segoe UI"/>
              </a:rPr>
              <a:t>₹4.3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5084064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avoidable with advisory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724143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Seven weighted drivers — depth, pump-failure risk, forecast drawdown, stage of extraction, crop stage, monsoon anomaly and drip adoption — produce a 0–100 score, a probability of default and a rupee expected loss. The bank gets a number it can price; the farmer gets an early-warning text, not a rejection.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Production engineering, not a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62306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One command, whole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69364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python3 run_pipeline.py — pre-flight, ingest, build, train, evaluate, advise, launch. 45 s cold.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226563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30551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24 automated assertions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2867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3 districts × (advisory, wells, twin, spatial, geojson) + evaluation, importance, saliency, every chart, and the two audit regressions.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83006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34054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Caching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76370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Climate model, datasets, forecasts and maps are content-hashed and cached — the UI never waits on a fit.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433569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37557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No mocked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579873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Every figure in the app and this deck is computed from data/ at run time. Change the data, the deck rebuilds itself.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162306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52704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Typed, documented, linted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1769364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Docstrings carry the physical reasoning, not just the signature. Constants are named and collected in one config module.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2226563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2130551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Graceful degradation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372867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No model checkpoint? The app still serves the physics twin and the advisory. No map? It falls back to a scatter.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283006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2734054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Reproducible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2976370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Seeded torch/numpy, pinned requirements.txt, a rebuild script for the spatial assets, and an artefacts manifest on exit.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433569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3337557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Honest by construction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579873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Baselines ship with the model. Provenance columns ship with the data. Limitations ship with the README.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572000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0B1E30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572000"/>
            <a:ext cx="50292" cy="93268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7548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52,547 parameters · 1,828-day daily frame · 1,713 training sequences · ~25 s to train on CPU · sub-0.2 s digital twin · 4-tab Streamlit dashboard · 26 MB of real Punjab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What we would tell a reviewer before they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0292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8249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The daily trajectory is modelled, not 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75104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Only 31 in-situ CGWB readings exist for these districts (2021–2024). The continuous daily curve is a calibrated FAO-56 water balance. We anchor its level to the readings and its decline to the published district rate — but it is a reconstruction, and the RMSE figures measure forecast skill against that reconstruction.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15184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615184"/>
            <a:ext cx="50292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432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31 readings is a thin calibration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35808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The recharge lag and scalar are fitted to them. More well data would tighten both. The seasonal-shape fit is 0.47–0.50 m after removing each well's static lithology offset.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75888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675888"/>
            <a:ext cx="50292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0390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Part of the weather record is generated, not measured.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096512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84.2% of rainfall days and 58.5% of temperature days are measured telemetry; the gaps — scattered through the record, and every day after the gauges stop reporting — come from the fitted climate model. Every row is flagged, and both are visible in the chart above.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736592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736592"/>
            <a:ext cx="50292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86460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Three districts, not 23.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157216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Sangrur, Ludhiana and Moga were chosen because the Drive data covers them. The spatial layer ships all 22 Punjab districts, so extension is a data-refresh, not a rewrite.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369A1"/>
                </a:solidFill>
                <a:latin typeface="Segoe UI"/>
              </a:rPr>
              <a:t>None of these are hidden in the product: the dashboard's provenance tab prints all of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Why this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62306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A forecast that beats the obvious baselines, and we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69364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0.099–0.117 m RMSE, 67.4–70.9% skill vs persistence, reported next to persistence, seasonal-naive, linear-trend, a GRU and a linear probe.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24485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4884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Real Punjab data, and an honest account of every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91156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1,828-day frame, 1,540 measured rainfall days, 31 CGWB readings, 122 wells, 8 real rasters.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866644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7063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It ends in an action, not a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12948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A pumping quota in hours-per-irrigation, a bilingual WhatsApp card, a well-level risk map and a credit score.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48843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92424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You can open it and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634740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Live training curve, MC-dropout bands, permutation importance, gradient saliency, a re-trainable benchmark, and a provenance ledger.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554480"/>
            <a:ext cx="5193792" cy="30175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554480"/>
            <a:ext cx="50292" cy="30175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177393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Next 90 days</a:t>
            </a:r>
          </a:p>
        </p:txBody>
      </p:sp>
      <p:sp>
        <p:nvSpPr>
          <p:cNvPr id="21" name="Oval 20"/>
          <p:cNvSpPr/>
          <p:nvPr/>
        </p:nvSpPr>
        <p:spPr>
          <a:xfrm>
            <a:off x="6702552" y="2249424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17627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Extend to all 22 Punjab districts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41401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spatial layer already ships them</a:t>
            </a:r>
          </a:p>
        </p:txBody>
      </p:sp>
      <p:sp>
        <p:nvSpPr>
          <p:cNvPr id="24" name="Oval 23"/>
          <p:cNvSpPr/>
          <p:nvPr/>
        </p:nvSpPr>
        <p:spPr>
          <a:xfrm>
            <a:off x="6702552" y="2852928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77977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Ingest CGWB's quarterly well census 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0175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replaces the static reading set</a:t>
            </a:r>
          </a:p>
        </p:txBody>
      </p:sp>
      <p:sp>
        <p:nvSpPr>
          <p:cNvPr id="27" name="Oval 26"/>
          <p:cNvSpPr/>
          <p:nvPr/>
        </p:nvSpPr>
        <p:spPr>
          <a:xfrm>
            <a:off x="6702552" y="3456432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33832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Pilot with a regional rural bank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36210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portfolio view is already priced in ₹</a:t>
            </a:r>
          </a:p>
        </p:txBody>
      </p:sp>
      <p:sp>
        <p:nvSpPr>
          <p:cNvPr id="30" name="Oval 29"/>
          <p:cNvSpPr/>
          <p:nvPr/>
        </p:nvSpPr>
        <p:spPr>
          <a:xfrm>
            <a:off x="6702552" y="4059936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398678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Add a farmer reply loop (STOP / CONFIRM)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2245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the SMS contract is already written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Segoe UI"/>
              </a:rPr>
              <a:t>THE ONE-LINER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Every other team will show you a groundwater chart.
We show a farmer which hours to pump, and a bank
which loan is about to go dry.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50208"/>
            <a:ext cx="201168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24528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B6CDE0"/>
                </a:solidFill>
                <a:latin typeface="Segoe UI"/>
              </a:rPr>
              <a:t>0.099–0.117 m RMSE  ·  up to +70.9% skill  ·  3 districts  ·  122 wells scored  ·  1,828-day frame  ·  bilingual  ·  52,547-parameter PyTorch LSTM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7DA2C4"/>
                </a:solidFill>
                <a:latin typeface="Segoe UI"/>
              </a:rPr>
              <a:t>Run it:  python3 run_pipeline.py   →   dashboard on :8501   ·   Verify it:  python3 tests/smoke_test.py   →   24 passed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