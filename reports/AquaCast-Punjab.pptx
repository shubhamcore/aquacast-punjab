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EA5E9"/>
                </a:solidFill>
                <a:latin typeface="Segoe UI"/>
              </a:rPr>
              <a:t>SANKALP  ·  CLIMATE-SMART AGRICULTURE  ·  WATER  ·  RURAL CREDIT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607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6200" b="1">
                <a:solidFill>
                  <a:srgbClr val="FFFFFF"/>
                </a:solidFill>
                <a:latin typeface="Segoe UI"/>
              </a:rPr>
              <a:t>AquaCast-Punjab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8716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900" b="0">
                <a:solidFill>
                  <a:srgbClr val="B6CDE0"/>
                </a:solidFill>
                <a:latin typeface="Segoe UI"/>
              </a:rPr>
              <a:t>Forecast the aquifer 90 days out — then tell a farmer how many hours to pump,
and a bank which loans are about to go bad.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584448"/>
            <a:ext cx="2560320" cy="1298448"/>
          </a:xfrm>
          <a:prstGeom prst="roundRect">
            <a:avLst>
              <a:gd name="adj" fmla="val 6000"/>
            </a:avLst>
          </a:prstGeom>
          <a:solidFill>
            <a:srgbClr val="142C45"/>
          </a:solidFill>
          <a:ln w="12700">
            <a:solidFill>
              <a:srgbClr val="132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3584448"/>
            <a:ext cx="50292" cy="129844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3767328"/>
            <a:ext cx="21488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22C55E"/>
                </a:solidFill>
                <a:latin typeface="Segoe UI"/>
              </a:rPr>
              <a:t>0.099–0.117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4370832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50" b="0">
                <a:solidFill>
                  <a:srgbClr val="FFFFFF"/>
                </a:solidFill>
                <a:latin typeface="Segoe UI"/>
              </a:rPr>
              <a:t>out-of-sample RMSE
30 / 60 / 90-day forecast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65576" y="3584448"/>
            <a:ext cx="2560320" cy="1298448"/>
          </a:xfrm>
          <a:prstGeom prst="roundRect">
            <a:avLst>
              <a:gd name="adj" fmla="val 6000"/>
            </a:avLst>
          </a:prstGeom>
          <a:solidFill>
            <a:srgbClr val="142C45"/>
          </a:solidFill>
          <a:ln w="12700">
            <a:solidFill>
              <a:srgbClr val="132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65576" y="3584448"/>
            <a:ext cx="50292" cy="129844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21608" y="3767328"/>
            <a:ext cx="21488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0EA5E9"/>
                </a:solidFill>
                <a:latin typeface="Segoe UI"/>
              </a:rPr>
              <a:t>+67.4%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4370832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50" b="0">
                <a:solidFill>
                  <a:srgbClr val="FFFFFF"/>
                </a:solidFill>
                <a:latin typeface="Segoe UI"/>
              </a:rPr>
              <a:t>skill vs persistence
baseline (Ludhiana)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53912" y="3584448"/>
            <a:ext cx="2560320" cy="1298448"/>
          </a:xfrm>
          <a:prstGeom prst="roundRect">
            <a:avLst>
              <a:gd name="adj" fmla="val 6000"/>
            </a:avLst>
          </a:prstGeom>
          <a:solidFill>
            <a:srgbClr val="142C45"/>
          </a:solidFill>
          <a:ln w="12700">
            <a:solidFill>
              <a:srgbClr val="132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53912" y="3584448"/>
            <a:ext cx="50292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9944" y="3767328"/>
            <a:ext cx="21488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59E0B"/>
                </a:solidFill>
                <a:latin typeface="Segoe UI"/>
              </a:rPr>
              <a:t>122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4370832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50" b="0">
                <a:solidFill>
                  <a:srgbClr val="FFFFFF"/>
                </a:solidFill>
                <a:latin typeface="Segoe UI"/>
              </a:rPr>
              <a:t>real CGWB wells scored
individually, not averaged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42248" y="3584448"/>
            <a:ext cx="2560320" cy="1298448"/>
          </a:xfrm>
          <a:prstGeom prst="roundRect">
            <a:avLst>
              <a:gd name="adj" fmla="val 6000"/>
            </a:avLst>
          </a:prstGeom>
          <a:solidFill>
            <a:srgbClr val="142C45"/>
          </a:solidFill>
          <a:ln w="12700">
            <a:solidFill>
              <a:srgbClr val="132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42248" y="3584448"/>
            <a:ext cx="50292" cy="129844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3767328"/>
            <a:ext cx="21488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4B8A6"/>
                </a:solidFill>
                <a:latin typeface="Segoe UI"/>
              </a:rPr>
              <a:t>84.2%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4370832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50" b="0">
                <a:solidFill>
                  <a:srgbClr val="FFFFFF"/>
                </a:solidFill>
                <a:latin typeface="Segoe UI"/>
              </a:rPr>
              <a:t>of rainfall days in the 1,828-day
frame are measured telemetry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23036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7DA2C4"/>
                </a:solidFill>
                <a:latin typeface="Segoe UI"/>
              </a:rPr>
              <a:t>PyTorch LSTM  ·  52,547 parameters  ·  1,828-day daily frame  ·  3 districts  ·  122 wells  ·  8 real Punjab rasters  ·  bilingual English / ਪੰਜਾਬੀ advisory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961888"/>
            <a:ext cx="10607040" cy="10972"/>
          </a:xfrm>
          <a:prstGeom prst="rect">
            <a:avLst/>
          </a:prstGeom>
          <a:solidFill>
            <a:srgbClr val="13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0369A1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0F172A"/>
                </a:solidFill>
                <a:latin typeface="Segoe UI"/>
              </a:rPr>
              <a:t>Punjab is mining its aquifer — and the paradox hides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658368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54864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0F172A"/>
                </a:solidFill>
                <a:latin typeface="Segoe UI"/>
              </a:rPr>
              <a:t>Central Punjab pumps 2,488 MCM of groundwater a year and recharges 2,139 MCM. The 349 MCM gap is the 0.8 m/yr the water table drops — every year, across 280,000 ha of wheat.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2674620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578608"/>
            <a:ext cx="5111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The monsoon arrives in July; the water table falls until August.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820924"/>
            <a:ext cx="51114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A 30–40 m deep aquifer lags the monsoon by months — so everyone misreads the signal.</a:t>
            </a:r>
          </a:p>
        </p:txBody>
      </p:sp>
      <p:sp>
        <p:nvSpPr>
          <p:cNvPr id="10" name="Oval 9"/>
          <p:cNvSpPr/>
          <p:nvPr/>
        </p:nvSpPr>
        <p:spPr>
          <a:xfrm>
            <a:off x="566928" y="3332988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236976"/>
            <a:ext cx="5111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Farmers pump on a calendar, not on a forecast.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479292"/>
            <a:ext cx="51114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Paddy is transplanted in May, before the rain, when the aquifer is at its lowest.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3991356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895344"/>
            <a:ext cx="5111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Lenders price crop loans on rainfall, not on water.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4137660"/>
            <a:ext cx="51114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Nothing in the credit file says 'this tubewell goes dry in 400 days'.</a:t>
            </a:r>
          </a:p>
        </p:txBody>
      </p:sp>
      <p:pic>
        <p:nvPicPr>
          <p:cNvPr id="16" name="Picture 15" descr="seasonal_parad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452" y="1499616"/>
            <a:ext cx="5048486" cy="2286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55080" y="3931920"/>
            <a:ext cx="528523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Recharge peaks in July–August, but the water table is at its deepest exactly then: the monsoon's recharge has not reached 36 m down yet.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1908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AquaCast-Punjab  ·  Sankalp — Climate-Smart Agriculture, Water &amp; Rural Credit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1908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94A3B8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0369A1"/>
                </a:solidFill>
                <a:latin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0F172A"/>
                </a:solidFill>
                <a:latin typeface="Segoe UI"/>
              </a:rPr>
              <a:t>Four modules, one contract: measured data in, an action 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658368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2542032" cy="148132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554480"/>
            <a:ext cx="2542032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773936"/>
            <a:ext cx="640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0EA5E9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157984"/>
            <a:ext cx="2084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INGEST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450592"/>
            <a:ext cx="20848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3 rain gauges · 5 temp stations
31 CGWB readings · 22 districts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2231136"/>
            <a:ext cx="182880" cy="32004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83280" y="1554480"/>
            <a:ext cx="2542032" cy="148132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554480"/>
            <a:ext cx="2542032" cy="457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1024" y="1773936"/>
            <a:ext cx="640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14B8A6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1024" y="2157984"/>
            <a:ext cx="2084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RECONSTRUCT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4" y="2450592"/>
            <a:ext cx="20848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FAO-56 water balance, gamma-lagged recharge,
calibrated to the CGWB hydrographs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71032" y="2231136"/>
            <a:ext cx="182880" cy="32004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99632" y="1554480"/>
            <a:ext cx="2542032" cy="148132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1554480"/>
            <a:ext cx="2542032" cy="45720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1773936"/>
            <a:ext cx="640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0369A1"/>
                </a:solidFill>
                <a:latin typeface="Segoe U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2157984"/>
            <a:ext cx="2084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FORECAST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2450592"/>
            <a:ext cx="20848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2-layer LSTM, 60-day window,
3 direct horizons (30/60/90 d)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87384" y="2231136"/>
            <a:ext cx="182880" cy="32004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015984" y="1554480"/>
            <a:ext cx="2542032" cy="148132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15984" y="1554480"/>
            <a:ext cx="2542032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53728" y="1773936"/>
            <a:ext cx="640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F59E0B"/>
                </a:solidFill>
                <a:latin typeface="Segoe U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3728" y="2157984"/>
            <a:ext cx="2084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3728" y="2450592"/>
            <a:ext cx="20848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Pumping quota · bilingual WhatsApp/SMS
· well-level risk · credit score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33101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0F172A"/>
                </a:solidFill>
                <a:latin typeface="Segoe UI"/>
              </a:rPr>
              <a:t>Every row of the training frame carries a provenance flag. The dashboard prints the ledger — you can always see which days are measured and which are physics-filled.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66928" y="3767328"/>
          <a:ext cx="1106424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011680"/>
                <a:gridCol w="585216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Layer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Real or modelled?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Shipped source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Rainfall (daily)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2C55E"/>
                          </a:solidFill>
                          <a:latin typeface="Segoe UI"/>
                        </a:rPr>
                        <a:t>Measured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India-WRIS, 3 gauges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Temperature (daily Tmax/Tmin)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2C55E"/>
                          </a:solidFill>
                          <a:latin typeface="Segoe UI"/>
                        </a:rPr>
                        <a:t>Measured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Punjab SW telemetry, 5 stations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Water level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2C55E"/>
                          </a:solidFill>
                          <a:latin typeface="Segoe UI"/>
                        </a:rPr>
                        <a:t>Measured (sparse)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31 in-situ CGWB readings, 10 wells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District / block polygons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2C55E"/>
                          </a:solidFill>
                          <a:latin typeface="Segoe UI"/>
                        </a:rPr>
                        <a:t>Real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India-WRIS, 22 Punjab districts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Observation-well network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2C55E"/>
                          </a:solidFill>
                          <a:latin typeface="Segoe UI"/>
                        </a:rPr>
                        <a:t>Real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122 CGWB wells inside Sangrur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Aquifer thickness, depth to 1st aquifer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2C55E"/>
                          </a:solidFill>
                          <a:latin typeface="Segoe UI"/>
                        </a:rPr>
                        <a:t>Real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CGWB rasters → 440 m grid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Soil texture / depth / slope / erosion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22C55E"/>
                          </a:solidFill>
                          <a:latin typeface="Segoe UI"/>
                        </a:rPr>
                        <a:t>Real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NBSS&amp;LUP rasters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Daily water-level trajectory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59E0B"/>
                          </a:solidFill>
                          <a:latin typeface="Segoe UI"/>
                        </a:rPr>
                        <a:t>Physics + ML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FAO-56 balance, calibrated to the CGWB readings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566928" y="641908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AquaCast-Punjab  ·  Sankalp — Climate-Smart Agriculture, Water &amp; Rural Credit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1908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94A3B8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95728"/>
            <a:ext cx="12191695" cy="1920240"/>
          </a:xfrm>
          <a:prstGeom prst="rect">
            <a:avLst/>
          </a:prstGeom>
          <a:solidFill>
            <a:srgbClr val="13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95728"/>
            <a:ext cx="82296" cy="19202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670048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EA5E9"/>
                </a:solidFill>
                <a:latin typeface="Segoe U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99232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Segoe UI"/>
              </a:rPr>
              <a:t>Real data, declared provenance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75887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9FBAD3"/>
                </a:solidFill>
                <a:latin typeface="Segoe UI"/>
              </a:rPr>
              <a:t>1,828 days · 3 rain gauges · 5 temperature stations · 31 in-situ groundwater readings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A7A99"/>
                </a:solidFill>
                <a:latin typeface="Segoe UI"/>
              </a:rPr>
              <a:t>AquaCast-Punjab  ·  Sankalp — Climate-Smart Agriculture, Water &amp; Rural Credit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5A7A99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0369A1"/>
                </a:solidFill>
                <a:latin typeface="Segoe UI"/>
              </a:rPr>
              <a:t>DATA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0F172A"/>
                </a:solidFill>
                <a:latin typeface="Segoe UI"/>
              </a:rPr>
              <a:t>We filled the gaps with physics — and flagged every gap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658368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0F172A"/>
                </a:solidFill>
                <a:latin typeface="Segoe UI"/>
              </a:rPr>
              <a:t>The WRIS telemetry is real but incomplete: rain gauges report 1,540 of 1,828 days and temperature stations 1,070. Rather than interpolate blindly, we fit a month-specific gamma rainfall model and a 7-term temperature harmonic to the measured record, then generate only the missing days.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2857500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761488"/>
            <a:ext cx="4791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84.2% of rainfall days measured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003804"/>
            <a:ext cx="47914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the rest carry rainfall_src = 'generated'</a:t>
            </a:r>
          </a:p>
        </p:txBody>
      </p:sp>
      <p:sp>
        <p:nvSpPr>
          <p:cNvPr id="10" name="Oval 9"/>
          <p:cNvSpPr/>
          <p:nvPr/>
        </p:nvSpPr>
        <p:spPr>
          <a:xfrm>
            <a:off x="566928" y="3515868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419856"/>
            <a:ext cx="4791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58.5% of temperature days measured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662172"/>
            <a:ext cx="47914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62,339 rows of hourly SW telemetry reduced to daily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4174236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4078224"/>
            <a:ext cx="4791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Zero silent imputation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4320540"/>
            <a:ext cx="47914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every row is auditable in the dashboard's provenance ledger</a:t>
            </a:r>
          </a:p>
        </p:txBody>
      </p:sp>
      <p:pic>
        <p:nvPicPr>
          <p:cNvPr id="16" name="Picture 15" descr="prove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463096"/>
            <a:ext cx="5623560" cy="2011567"/>
          </a:xfrm>
          <a:prstGeom prst="rect">
            <a:avLst/>
          </a:prstGeom>
        </p:spPr>
      </p:pic>
      <p:pic>
        <p:nvPicPr>
          <p:cNvPr id="17" name="Picture 16" descr="water_bud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4374" y="3767328"/>
            <a:ext cx="4013450" cy="1828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89320" y="5760720"/>
            <a:ext cx="56235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Closing the balance: 2,488 MCM/yr draft vs 2,139 MCM/yr recharge — a 349 MCM/yr structural deficit, 116% stage of extraction.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AquaCast-Punjab  ·  Sankalp — Climate-Smart Agriculture, Water &amp; Rural Credit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1908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94A3B8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95728"/>
            <a:ext cx="12191695" cy="1920240"/>
          </a:xfrm>
          <a:prstGeom prst="rect">
            <a:avLst/>
          </a:prstGeom>
          <a:solidFill>
            <a:srgbClr val="13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95728"/>
            <a:ext cx="82296" cy="19202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670048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EA5E9"/>
                </a:solidFill>
                <a:latin typeface="Segoe U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99232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Segoe UI"/>
              </a:rPr>
              <a:t>The forecast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75887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9FBAD3"/>
                </a:solidFill>
                <a:latin typeface="Segoe UI"/>
              </a:rPr>
              <a:t>A PyTorch LSTM that earns its place — and we prove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A7A99"/>
                </a:solidFill>
                <a:latin typeface="Segoe UI"/>
              </a:rPr>
              <a:t>AquaCast-Punjab  ·  Sankalp — Climate-Smart Agriculture, Water &amp; Rural Credit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5A7A99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0369A1"/>
                </a:solidFill>
                <a:latin typeface="Segoe UI"/>
              </a:rPr>
              <a:t>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0F172A"/>
                </a:solidFill>
                <a:latin typeface="Segoe UI"/>
              </a:rPr>
              <a:t>Physics-prior residual learning, on a 60-day window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658368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8" y="1623060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27048"/>
            <a:ext cx="4791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LSTMs extrapolate linear trends badly.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769364"/>
            <a:ext cx="47914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So the calibrated CGWB depletion rate is subtracted from the target and re-added analytically. The network only models the stationary seasonal residual.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2281428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85416"/>
            <a:ext cx="4791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The calendar is a feature, not a nuisance.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427732"/>
            <a:ext cx="47914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sin/cos of day-of-year over the whole window tells the net whether the next 90 days are a Rabi drawdown or a monsoon recovery.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2939796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843784"/>
            <a:ext cx="4791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Three districts pooled, one network.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086100"/>
            <a:ext cx="47914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1,713 training sequences instead of 571 — the single biggest win.</a:t>
            </a:r>
          </a:p>
        </p:txBody>
      </p:sp>
      <p:pic>
        <p:nvPicPr>
          <p:cNvPr id="15" name="Picture 14" descr="trai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0657" y="1499616"/>
            <a:ext cx="4020301" cy="2286000"/>
          </a:xfrm>
          <a:prstGeom prst="rect">
            <a:avLst/>
          </a:prstGeom>
        </p:spPr>
      </p:pic>
      <p:pic>
        <p:nvPicPr>
          <p:cNvPr id="16" name="Picture 15" descr="hero_foreca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3399" y="3493008"/>
            <a:ext cx="4991297" cy="23317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66928" y="5925312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Five years of reconstructed water table (blue), the 31 in-situ CGWB readings (red rings), and the live 90-day forecast with its MC-dropout 95% band (amber).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1908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AquaCast-Punjab  ·  Sankalp — Climate-Smart Agriculture, Water &amp; Rural Credit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1908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94A3B8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0369A1"/>
                </a:solidFill>
                <a:latin typeface="Segoe UI"/>
              </a:rPr>
              <a:t>OUT-OF-SAMPLE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0F172A"/>
                </a:solidFill>
                <a:latin typeface="Segoe UI"/>
              </a:rPr>
              <a:t>0.099–0.117 m RMSE at 90 days, 0.935–0.942 R²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658368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554480"/>
          <a:ext cx="11064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1051560"/>
                <a:gridCol w="1051560"/>
                <a:gridCol w="1051560"/>
                <a:gridCol w="1691640"/>
                <a:gridCol w="1051560"/>
                <a:gridCol w="1371600"/>
                <a:gridCol w="164592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District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t+30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t+60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t+90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Overall RMSE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R²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Trend acc.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Skill vs persistence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Sangrur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0.125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0.122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0.103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C55E"/>
                          </a:solidFill>
                          <a:latin typeface="Segoe UI"/>
                        </a:rPr>
                        <a:t>0.117 m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0.935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91.7%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C55E"/>
                          </a:solidFill>
                          <a:latin typeface="Segoe UI"/>
                        </a:rPr>
                        <a:t>+67.4%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Ludhiana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0.092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0.098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0.107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C55E"/>
                          </a:solidFill>
                          <a:latin typeface="Segoe UI"/>
                        </a:rPr>
                        <a:t>0.099 m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0.939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90.6%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C55E"/>
                          </a:solidFill>
                          <a:latin typeface="Segoe UI"/>
                        </a:rPr>
                        <a:t>+70.9%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Moga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0.121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0.115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0.106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C55E"/>
                          </a:solidFill>
                          <a:latin typeface="Segoe UI"/>
                        </a:rPr>
                        <a:t>0.114 m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0.942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91.6%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2C55E"/>
                          </a:solidFill>
                          <a:latin typeface="Segoe UI"/>
                        </a:rPr>
                        <a:t>+68.2%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Persistence baseline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64748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64748B"/>
                          </a:solidFill>
                          <a:latin typeface="Segoe UI"/>
                        </a:rPr>
                        <a:t>0.341–0.359 m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64748B"/>
                          </a:solidFill>
                          <a:latin typeface="Segoe UI"/>
                        </a:rPr>
                        <a:t>4.2%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horiz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827" y="3127248"/>
            <a:ext cx="4237320" cy="2103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71231" y="3127248"/>
            <a:ext cx="4059936" cy="21031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27264" y="332841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369A1"/>
                </a:solidFill>
                <a:latin typeface="Segoe UI"/>
              </a:rPr>
              <a:t>Why error FALLS with lead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7264" y="3639311"/>
            <a:ext cx="356616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The spread of the target grows with horizon (σ 0.21 m → 0.43 m) while the unpredictable part does not.
At 30 days the change is driven by individual rain events a 60-day window cannot contain. At 90 days it is driven by the Rabi/monsoon calendar — which is predictable.
Per-horizon R² therefore rises 0.65 → 0.94.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1908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AquaCast-Punjab  ·  Sankalp — Climate-Smart Agriculture, Water &amp; Rural Credit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1908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94A3B8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0369A1"/>
                </a:solidFill>
                <a:latin typeface="Segoe UI"/>
              </a:rPr>
              <a:t>MODEL BAKE-OFF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0F172A"/>
                </a:solidFill>
                <a:latin typeface="Segoe UI"/>
              </a:rPr>
              <a:t>We trained the boring baselines too. The LSTM still wins.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658368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bak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841" y="1554480"/>
            <a:ext cx="6050172" cy="260604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699248" y="1600200"/>
          <a:ext cx="4169664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658368"/>
                <a:gridCol w="603504"/>
                <a:gridCol w="566928"/>
                <a:gridCol w="603504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RMSE (m)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MAE (m)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Trend acc.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Params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2C55E"/>
                          </a:solidFill>
                          <a:latin typeface="Segoe UI"/>
                        </a:rPr>
                        <a:t>LSTM — pooled 3 districts (shipped)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2C55E"/>
                          </a:solidFill>
                          <a:latin typeface="Segoe UI"/>
                        </a:rPr>
                        <a:t>0.1171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0.0919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91.7%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52,547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Linear probe (flatten window)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0.1427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0.1062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93.4%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1,443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GRU (2-layer)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0.1575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0.1257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92.8%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39,363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LSTM — Sangrur only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0.1584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0.1352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87.7%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52,547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Persistence (naive)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0.3591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0.3020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4.2%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699248" y="3950208"/>
            <a:ext cx="3931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Identical data, identical split, identical budget. The recurrent model beats the linear probe by 17.9% and a 2-layer GRU by 25.7%.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389120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ECFE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4389120"/>
            <a:ext cx="50292" cy="9601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457200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0F172A"/>
                </a:solidFill>
                <a:latin typeface="Segoe UI"/>
              </a:rPr>
              <a:t>The honest caveat: the LSTM only wins once the three districts are pooled. Train the identical architecture on Sangrur alone and it scores 0.158 m — worse than the linear probe. Pooling is not a footnote, it is the difference.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1908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AquaCast-Punjab  ·  Sankalp — Climate-Smart Agriculture, Water &amp; Rural Credit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1908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94A3B8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0369A1"/>
                </a:solidFill>
                <a:latin typeface="Segoe UI"/>
              </a:rPr>
              <a:t>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0F172A"/>
                </a:solidFill>
                <a:latin typeface="Segoe UI"/>
              </a:rPr>
              <a:t>Open the black box: what the network actually uses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658368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353" y="1554480"/>
            <a:ext cx="6009148" cy="2606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99248" y="155448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Four interpretability views, all live</a:t>
            </a:r>
          </a:p>
        </p:txBody>
      </p:sp>
      <p:sp>
        <p:nvSpPr>
          <p:cNvPr id="8" name="Oval 7"/>
          <p:cNvSpPr/>
          <p:nvPr/>
        </p:nvSpPr>
        <p:spPr>
          <a:xfrm>
            <a:off x="7699248" y="2061972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36992" y="1965960"/>
            <a:ext cx="36941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Permutation importance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36992" y="2208276"/>
            <a:ext cx="36941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shuffle each channel, measure the RMSE damage in metres. The calendar carries 72.1%.</a:t>
            </a:r>
          </a:p>
        </p:txBody>
      </p:sp>
      <p:sp>
        <p:nvSpPr>
          <p:cNvPr id="11" name="Oval 10"/>
          <p:cNvSpPr/>
          <p:nvPr/>
        </p:nvSpPr>
        <p:spPr>
          <a:xfrm>
            <a:off x="7699248" y="2702052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36992" y="2606040"/>
            <a:ext cx="36941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Live training curve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36992" y="2848356"/>
            <a:ext cx="36941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train vs validation RMSE, epoch by epoch, from the shipped history.</a:t>
            </a:r>
          </a:p>
        </p:txBody>
      </p:sp>
      <p:sp>
        <p:nvSpPr>
          <p:cNvPr id="14" name="Oval 13"/>
          <p:cNvSpPr/>
          <p:nvPr/>
        </p:nvSpPr>
        <p:spPr>
          <a:xfrm>
            <a:off x="7699248" y="3342132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36992" y="3246120"/>
            <a:ext cx="36941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MC-dropout bands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36992" y="3488436"/>
            <a:ext cx="36941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60 stochastic forward passes — a real epistemic σ, not a ±5% fan chart.</a:t>
            </a:r>
          </a:p>
        </p:txBody>
      </p:sp>
      <p:sp>
        <p:nvSpPr>
          <p:cNvPr id="17" name="Oval 16"/>
          <p:cNvSpPr/>
          <p:nvPr/>
        </p:nvSpPr>
        <p:spPr>
          <a:xfrm>
            <a:off x="7699248" y="3982212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36992" y="3886200"/>
            <a:ext cx="36941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Gradient saliency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36992" y="4128516"/>
            <a:ext cx="36941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input-gradient attribution over the 60-day window.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434840"/>
            <a:ext cx="68580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Read it honestly: doy_sin dominates at 46.0%. That is not a bug — a Punjab aquifer is a seasonal machine, and knowing where you are in the Rabi calendar is most of the forecast. Weather moves the residual.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1908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AquaCast-Punjab  ·  Sankalp — Climate-Smart Agriculture, Water &amp; Rural Credit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1908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94A3B8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0369A1"/>
                </a:solidFill>
                <a:latin typeface="Segoe UI"/>
              </a:rPr>
              <a:t>ENGINEERING HONESTY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0F172A"/>
                </a:solidFill>
                <a:latin typeface="Segoe UI"/>
              </a:rPr>
              <a:t>We audited our own evaluation. It was wrong twice.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658368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self_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14320"/>
            <a:ext cx="5852160" cy="248635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675120" y="1554480"/>
            <a:ext cx="4956048" cy="148132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75120" y="1554480"/>
            <a:ext cx="50292" cy="148132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31152" y="173736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Stale forecast window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31152" y="2066544"/>
            <a:ext cx="4480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build_sequences stops 90 days short of the record because every training window needs a realised target — so its last row forecast from 90 days BEFORE today. The dashboard's live forecast read -0.01 m. With live_window() it reads -0.43 m, which is what October→December has done in every year of the record.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3182112"/>
            <a:ext cx="4956048" cy="148132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0" y="3182112"/>
            <a:ext cx="50292" cy="148132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31152" y="3364992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Trend-prior mismatch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1152" y="3694176"/>
            <a:ext cx="4480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predict() re-adds the depletion prior (rate × horizon), but the ground truth it was scored against did not. That faked a +0.19 m bias and published an RMSE of 0.21 m where the true figure was 0.117 m. R² went 0.789 → 0.935; skill 38.2% → 67.4%.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98848"/>
            <a:ext cx="5852160" cy="86868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498848"/>
            <a:ext cx="50292" cy="86868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4681728"/>
            <a:ext cx="53949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Both are now regression-tested in tests/smoke_test.py — 24 assertions that fail if either comes back.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1908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AquaCast-Punjab  ·  Sankalp — Climate-Smart Agriculture, Water &amp; Rural Credit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1908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94A3B8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95728"/>
            <a:ext cx="12191695" cy="1920240"/>
          </a:xfrm>
          <a:prstGeom prst="rect">
            <a:avLst/>
          </a:prstGeom>
          <a:solidFill>
            <a:srgbClr val="13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95728"/>
            <a:ext cx="82296" cy="19202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670048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EA5E9"/>
                </a:solidFill>
                <a:latin typeface="Segoe U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99232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Segoe UI"/>
              </a:rPr>
              <a:t>The wow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75887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9FBAD3"/>
                </a:solidFill>
                <a:latin typeface="Segoe UI"/>
              </a:rPr>
              <a:t>Four things no other team's prototype will have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5A7A99"/>
                </a:solidFill>
                <a:latin typeface="Segoe UI"/>
              </a:rPr>
              <a:t>AquaCast-Punjab  ·  Sankalp — Climate-Smart Agriculture, Water &amp; Rural Credit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5A7A99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0369A1"/>
                </a:solidFill>
                <a:latin typeface="Segoe UI"/>
              </a:rPr>
              <a:t>WOW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0F172A"/>
                </a:solidFill>
                <a:latin typeface="Segoe UI"/>
              </a:rPr>
              <a:t>WOW 01 · The Digital Twin — policy levers in under 0.2 seconds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658368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digital_tw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535" y="1554480"/>
            <a:ext cx="4811345" cy="2194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07808" y="15544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Six levers, instantly re-solved</a:t>
            </a:r>
          </a:p>
        </p:txBody>
      </p:sp>
      <p:sp>
        <p:nvSpPr>
          <p:cNvPr id="8" name="Oval 7"/>
          <p:cNvSpPr/>
          <p:nvPr/>
        </p:nvSpPr>
        <p:spPr>
          <a:xfrm>
            <a:off x="7607808" y="2061972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45552" y="1965960"/>
            <a:ext cx="3785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Micro-irrigation adoption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45552" y="2208276"/>
            <a:ext cx="37856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0–80%, changes application efficiency</a:t>
            </a:r>
          </a:p>
        </p:txBody>
      </p:sp>
      <p:sp>
        <p:nvSpPr>
          <p:cNvPr id="11" name="Oval 10"/>
          <p:cNvSpPr/>
          <p:nvPr/>
        </p:nvSpPr>
        <p:spPr>
          <a:xfrm>
            <a:off x="7607808" y="2665475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45552" y="2569463"/>
            <a:ext cx="3785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Monsoon anomaly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5552" y="2811779"/>
            <a:ext cx="37856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±30% on monsoon recharge</a:t>
            </a:r>
          </a:p>
        </p:txBody>
      </p:sp>
      <p:sp>
        <p:nvSpPr>
          <p:cNvPr id="14" name="Oval 13"/>
          <p:cNvSpPr/>
          <p:nvPr/>
        </p:nvSpPr>
        <p:spPr>
          <a:xfrm>
            <a:off x="7607808" y="3268978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45552" y="3172966"/>
            <a:ext cx="3785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Paddy transplant shift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5552" y="3415282"/>
            <a:ext cx="37856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0–30 days later, off the pre-monsoon trough</a:t>
            </a:r>
          </a:p>
        </p:txBody>
      </p:sp>
      <p:sp>
        <p:nvSpPr>
          <p:cNvPr id="17" name="Oval 16"/>
          <p:cNvSpPr/>
          <p:nvPr/>
        </p:nvSpPr>
        <p:spPr>
          <a:xfrm>
            <a:off x="7607808" y="3872481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3776469"/>
            <a:ext cx="3785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Canal availability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45552" y="4018785"/>
            <a:ext cx="37856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0–100% of the commanded supply</a:t>
            </a:r>
          </a:p>
        </p:txBody>
      </p:sp>
      <p:sp>
        <p:nvSpPr>
          <p:cNvPr id="20" name="Oval 19"/>
          <p:cNvSpPr/>
          <p:nvPr/>
        </p:nvSpPr>
        <p:spPr>
          <a:xfrm>
            <a:off x="7607808" y="4475984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4379972"/>
            <a:ext cx="3785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Horizon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45552" y="4622288"/>
            <a:ext cx="37856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90 / 180 / 365 / 730 days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66928" y="3858768"/>
          <a:ext cx="6766560" cy="1499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1280160"/>
                <a:gridCol w="155448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Scenario (365 days)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End level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Water saved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Segoe UI"/>
                        </a:rPr>
                        <a:t>Standard Flood Irrigation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Segoe UI"/>
                        </a:rPr>
                        <a:t>36.51 m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Segoe UI"/>
                        </a:rPr>
                        <a:t>Drip 40% + 15-day paddy shift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Segoe UI"/>
                        </a:rPr>
                        <a:t>36.37 m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Segoe UI"/>
                        </a:rPr>
                        <a:t>+0.14 m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Segoe UI"/>
                        </a:rPr>
                        <a:t>Micro-Drip Shift (40%)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Segoe UI"/>
                        </a:rPr>
                        <a:t>36.39 m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Segoe UI"/>
                        </a:rPr>
                        <a:t>+0.12 m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607808" y="3858768"/>
            <a:ext cx="4023360" cy="1389888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07808" y="3858768"/>
            <a:ext cx="50292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4059936"/>
            <a:ext cx="356616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The honest finding: the levers help far less than intuition says. Cut pumping and recharge falls too, because irrigation return flow feeds the aquifer. We surface that instead of hiding it — it is the most policy-relevant thing in the model.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1908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AquaCast-Punjab  ·  Sankalp — Climate-Smart Agriculture, Water &amp; Rural Credit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1908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94A3B8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0369A1"/>
                </a:solidFill>
                <a:latin typeface="Segoe UI"/>
              </a:rPr>
              <a:t>WOW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0F172A"/>
                </a:solidFill>
                <a:latin typeface="Segoe UI"/>
              </a:rPr>
              <a:t>WOW 02 · One district forecast, 122 individual wells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658368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well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969" y="1554480"/>
            <a:ext cx="2544437" cy="2651760"/>
          </a:xfrm>
          <a:prstGeom prst="rect">
            <a:avLst/>
          </a:prstGeom>
        </p:spPr>
      </p:pic>
      <p:pic>
        <p:nvPicPr>
          <p:cNvPr id="7" name="Picture 6" descr="block_ri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4941" y="1554480"/>
            <a:ext cx="5737333" cy="26517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4407408"/>
          <a:ext cx="41605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1051560"/>
                <a:gridCol w="96012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Block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Mean risk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Wells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ANDANA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EF4444"/>
                          </a:solidFill>
                          <a:latin typeface="Segoe UI"/>
                        </a:rPr>
                        <a:t>51.5%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MOONAK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59E0B"/>
                          </a:solidFill>
                          <a:latin typeface="Segoe UI"/>
                        </a:rPr>
                        <a:t>41.9%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SUNAM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59E0B"/>
                          </a:solidFill>
                          <a:latin typeface="Segoe UI"/>
                        </a:rPr>
                        <a:t>22.7%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SANGRUR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16.5%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DHURI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12.5%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BARNALA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10.8%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956048" y="4407408"/>
            <a:ext cx="6675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Each of the 122 real CGWB wells keeps its own lithology offset, derived from the wells that have in-situ readings and IDW-interpolated to the rest. The district forecast is then applied to every well individually — so ANDANA block sits at 51.5% pump-failure risk while PAKHOWAL sits at 0.0%, in the same district, on the same day. 12 wells are above 50%.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AquaCast-Punjab  ·  Sankalp — Climate-Smart Agriculture, Water &amp; Rural Credit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1908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94A3B8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0369A1"/>
                </a:solidFill>
                <a:latin typeface="Segoe UI"/>
              </a:rPr>
              <a:t>WOW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0F172A"/>
                </a:solidFill>
                <a:latin typeface="Segoe UI"/>
              </a:rPr>
              <a:t>WOW 03 · The advisory a farmer can actually act on — in Punjabi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658368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4160520" cy="39319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554480"/>
            <a:ext cx="4160520" cy="384048"/>
          </a:xfrm>
          <a:prstGeom prst="roundRect">
            <a:avLst>
              <a:gd name="adj" fmla="val 3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810512"/>
            <a:ext cx="4160520" cy="146304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618488"/>
            <a:ext cx="3794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WhatsApp · English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084832"/>
            <a:ext cx="375818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950" b="1">
                <a:solidFill>
                  <a:srgbClr val="0F172A"/>
                </a:solidFill>
                <a:latin typeface="Consolas"/>
              </a:rPr>
              <a:t>*AquaCast Alert — Sangrur*</a:t>
            </a:r>
          </a:p>
          <a:p>
            <a:pPr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Consolas"/>
              </a:rPr>
              <a:t>📅 02 Oct 2026 → 31 Dec 2026 (+90 d)</a:t>
            </a:r>
          </a:p>
          <a:p>
            <a:pPr>
              <a:lnSpc>
                <a:spcPct val="115000"/>
              </a:lnSpc>
            </a:pPr>
            <a:r>
              <a:rPr sz="950" b="0">
                <a:solidFill>
                  <a:srgbClr val="94A3B8"/>
                </a:solidFill>
                <a:latin typeface="Consolas"/>
              </a:rPr>
              <a:t>━━━━━━━━━━━━━━━</a:t>
            </a:r>
          </a:p>
          <a:p>
            <a:pPr>
              <a:lnSpc>
                <a:spcPct val="115000"/>
              </a:lnSpc>
            </a:pPr>
            <a:r>
              <a:rPr sz="950" b="0">
                <a:solidFill>
                  <a:srgbClr val="0F172A"/>
                </a:solidFill>
                <a:latin typeface="Consolas"/>
              </a:rPr>
              <a:t>💧 Water table: *36.0 → 35.6* m bgl</a:t>
            </a:r>
          </a:p>
          <a:p>
            <a:pPr>
              <a:lnSpc>
                <a:spcPct val="115000"/>
              </a:lnSpc>
            </a:pPr>
            <a:r>
              <a:rPr sz="950" b="0">
                <a:solidFill>
                  <a:srgbClr val="0F172A"/>
                </a:solidFill>
                <a:latin typeface="Consolas"/>
              </a:rPr>
              <a:t>🔴 Aquifer zone: *OVER-EXPLOITED*</a:t>
            </a:r>
          </a:p>
          <a:p>
            <a:pPr>
              <a:lnSpc>
                <a:spcPct val="115000"/>
              </a:lnSpc>
            </a:pPr>
            <a:r>
              <a:rPr sz="950" b="0">
                <a:solidFill>
                  <a:srgbClr val="0F172A"/>
                </a:solidFill>
                <a:latin typeface="Consolas"/>
              </a:rPr>
              <a:t>🚰 Pump quota: *1.7 h/week/acre*</a:t>
            </a:r>
          </a:p>
          <a:p>
            <a:pPr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Consolas"/>
              </a:rPr>
              <a:t>   (~10 h run, every 40 days)</a:t>
            </a:r>
          </a:p>
          <a:p>
            <a:pPr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Consolas"/>
              </a:rPr>
              <a:t>   pump delivery at this depth: 25 m³/h</a:t>
            </a:r>
          </a:p>
          <a:p>
            <a:pPr>
              <a:lnSpc>
                <a:spcPct val="115000"/>
              </a:lnSpc>
            </a:pPr>
            <a:r>
              <a:rPr sz="950" b="0">
                <a:solidFill>
                  <a:srgbClr val="0F172A"/>
                </a:solidFill>
                <a:latin typeface="Consolas"/>
              </a:rPr>
              <a:t>⚠️ Pump failure risk: *0%*</a:t>
            </a:r>
          </a:p>
          <a:p>
            <a:pPr>
              <a:lnSpc>
                <a:spcPct val="115000"/>
              </a:lnSpc>
            </a:pPr>
            <a:r>
              <a:rPr sz="950" b="0">
                <a:solidFill>
                  <a:srgbClr val="0F172A"/>
                </a:solidFill>
                <a:latin typeface="Consolas"/>
              </a:rPr>
              <a:t>🌾 Tillering / canopy development</a:t>
            </a:r>
          </a:p>
          <a:p>
            <a:pPr>
              <a:lnSpc>
                <a:spcPct val="115000"/>
              </a:lnSpc>
            </a:pPr>
            <a:r>
              <a:rPr sz="950" b="0">
                <a:solidFill>
                  <a:srgbClr val="0F172A"/>
                </a:solidFill>
                <a:latin typeface="Consolas"/>
              </a:rPr>
              <a:t>🏦 Loan risk: 62/100 (High)</a:t>
            </a:r>
          </a:p>
          <a:p>
            <a:pPr>
              <a:lnSpc>
                <a:spcPct val="115000"/>
              </a:lnSpc>
            </a:pPr>
            <a:r>
              <a:rPr sz="950" b="0">
                <a:solidFill>
                  <a:srgbClr val="94A3B8"/>
                </a:solidFill>
                <a:latin typeface="Consolas"/>
              </a:rPr>
              <a:t>━━━━━━━━━━━━━━━</a:t>
            </a:r>
          </a:p>
          <a:p>
            <a:pPr>
              <a:lnSpc>
                <a:spcPct val="115000"/>
              </a:lnSpc>
            </a:pPr>
            <a:r>
              <a:rPr sz="950" b="0">
                <a:solidFill>
                  <a:srgbClr val="0F172A"/>
                </a:solidFill>
                <a:latin typeface="Consolas"/>
              </a:rPr>
              <a:t>⛔ Cut pumping — aquifer below safe threshold.</a:t>
            </a:r>
          </a:p>
          <a:p>
            <a:pPr>
              <a:lnSpc>
                <a:spcPct val="115000"/>
              </a:lnSpc>
            </a:pPr>
            <a:r>
              <a:rPr sz="950" b="0">
                <a:solidFill>
                  <a:srgbClr val="0F172A"/>
                </a:solidFill>
                <a:latin typeface="Consolas"/>
              </a:rPr>
              <a:t>💧 Shift to drip / sprinkler to cut draft 40%.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56048" y="1554480"/>
            <a:ext cx="4160520" cy="39319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56048" y="1554480"/>
            <a:ext cx="4160520" cy="384048"/>
          </a:xfrm>
          <a:prstGeom prst="roundRect">
            <a:avLst>
              <a:gd name="adj" fmla="val 3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56048" y="1810512"/>
            <a:ext cx="4160520" cy="1463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57216" y="1618488"/>
            <a:ext cx="3794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WhatsApp · ਪੰਜਾਬੀ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2084832"/>
            <a:ext cx="375818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950" b="1">
                <a:solidFill>
                  <a:srgbClr val="0F172A"/>
                </a:solidFill>
                <a:latin typeface="Nirmala UI"/>
              </a:rPr>
              <a:t>*ਐਕੁਆਕਾਸਟ ਚੇਤਾਵਨੀ — Sangrur*</a:t>
            </a:r>
          </a:p>
          <a:p>
            <a:pPr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Nirmala UI"/>
              </a:rPr>
              <a:t>📅 02 ਅਕਤੂ 2026 → 31 ਦਸੰ 2026 (+90 ਦਿਨ)</a:t>
            </a:r>
          </a:p>
          <a:p>
            <a:pPr>
              <a:lnSpc>
                <a:spcPct val="115000"/>
              </a:lnSpc>
            </a:pPr>
            <a:r>
              <a:rPr sz="950" b="0">
                <a:solidFill>
                  <a:srgbClr val="94A3B8"/>
                </a:solidFill>
                <a:latin typeface="Consolas"/>
              </a:rPr>
              <a:t>━━━━━━━━━━━━━━━</a:t>
            </a:r>
          </a:p>
          <a:p>
            <a:pPr>
              <a:lnSpc>
                <a:spcPct val="115000"/>
              </a:lnSpc>
            </a:pPr>
            <a:r>
              <a:rPr sz="950" b="0">
                <a:solidFill>
                  <a:srgbClr val="0F172A"/>
                </a:solidFill>
                <a:latin typeface="Nirmala UI"/>
              </a:rPr>
              <a:t>💧 ਪਾਣੀ ਦਾ ਪੱਧਰ: *36.0 → 35.6* ਮੀਟਰ ਹੇਠਾਂ</a:t>
            </a:r>
          </a:p>
          <a:p>
            <a:pPr>
              <a:lnSpc>
                <a:spcPct val="115000"/>
              </a:lnSpc>
            </a:pPr>
            <a:r>
              <a:rPr sz="950" b="0">
                <a:solidFill>
                  <a:srgbClr val="0F172A"/>
                </a:solidFill>
                <a:latin typeface="Nirmala UI"/>
              </a:rPr>
              <a:t>🔴 ਧਰਤੀ ਹੇਠਲੇ ਪਾਣੀ ਦੀ ਹਾਲਤ: *ਵੱਧ-ਖਿੱਚ*</a:t>
            </a:r>
          </a:p>
          <a:p>
            <a:pPr>
              <a:lnSpc>
                <a:spcPct val="115000"/>
              </a:lnSpc>
            </a:pPr>
            <a:r>
              <a:rPr sz="950" b="0">
                <a:solidFill>
                  <a:srgbClr val="0F172A"/>
                </a:solidFill>
                <a:latin typeface="Nirmala UI"/>
              </a:rPr>
              <a:t>🚰 ਟਿਊਬਵੈੱਲ ਸਮਾਂ: *1.7 ਘੰਟੇ / ਹਫ਼ਤਾ / ਏਕੜ*</a:t>
            </a:r>
          </a:p>
          <a:p>
            <a:pPr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Nirmala UI"/>
              </a:rPr>
              <a:t>   (~10 ਘੰਟੇ, ਹਰ 40 ਦਿਨਾਂ ਬਾਅਦ)</a:t>
            </a:r>
          </a:p>
          <a:p>
            <a:pPr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Nirmala UI"/>
              </a:rPr>
              <a:t>   ਇਸ ਡੂੰਘਾਈ ਤੇ ਪੰਪ ਡਿਲੀਵਰੀ: 25 ਮੀ³/ਘੰਟਾ</a:t>
            </a:r>
          </a:p>
          <a:p>
            <a:pPr>
              <a:lnSpc>
                <a:spcPct val="115000"/>
              </a:lnSpc>
            </a:pPr>
            <a:r>
              <a:rPr sz="950" b="0">
                <a:solidFill>
                  <a:srgbClr val="0F172A"/>
                </a:solidFill>
                <a:latin typeface="Nirmala UI"/>
              </a:rPr>
              <a:t>⚠️ ਪੰਪ ਖ਼ਰਾਬ ਹੋਣ ਦਾ ਖ਼ਤਰਾ: *0%*</a:t>
            </a:r>
          </a:p>
          <a:p>
            <a:pPr>
              <a:lnSpc>
                <a:spcPct val="115000"/>
              </a:lnSpc>
            </a:pPr>
            <a:r>
              <a:rPr sz="950" b="0">
                <a:solidFill>
                  <a:srgbClr val="0F172A"/>
                </a:solidFill>
                <a:latin typeface="Nirmala UI"/>
              </a:rPr>
              <a:t>🌾 ਕੱਲੀਆਂ ਨਿਕਲਣਾ</a:t>
            </a:r>
          </a:p>
          <a:p>
            <a:pPr>
              <a:lnSpc>
                <a:spcPct val="115000"/>
              </a:lnSpc>
            </a:pPr>
            <a:r>
              <a:rPr sz="950" b="0">
                <a:solidFill>
                  <a:srgbClr val="0F172A"/>
                </a:solidFill>
                <a:latin typeface="Nirmala UI"/>
              </a:rPr>
              <a:t>🏦 ਕਰਜ਼ੇ ਦਾ ਖ਼ਤਰਾ: 62/100 (ਉੱਚਾ)</a:t>
            </a:r>
          </a:p>
          <a:p>
            <a:pPr>
              <a:lnSpc>
                <a:spcPct val="115000"/>
              </a:lnSpc>
            </a:pPr>
            <a:r>
              <a:rPr sz="950" b="0">
                <a:solidFill>
                  <a:srgbClr val="94A3B8"/>
                </a:solidFill>
                <a:latin typeface="Consolas"/>
              </a:rPr>
              <a:t>━━━━━━━━━━━━━━━</a:t>
            </a:r>
          </a:p>
          <a:p>
            <a:pPr>
              <a:lnSpc>
                <a:spcPct val="115000"/>
              </a:lnSpc>
            </a:pPr>
            <a:r>
              <a:rPr sz="950" b="0">
                <a:solidFill>
                  <a:srgbClr val="0F172A"/>
                </a:solidFill>
                <a:latin typeface="Nirmala UI"/>
              </a:rPr>
              <a:t>⛔ ਪੰਪਿੰਗ ਘਟਾਓ — ਪਾਣੀ ਸੁਰੱਖਿਅਤ ਪੱਧਰ ਤੋਂ ਹੇਠਾਂ ਹੈ।</a:t>
            </a:r>
          </a:p>
          <a:p>
            <a:pPr>
              <a:lnSpc>
                <a:spcPct val="115000"/>
              </a:lnSpc>
            </a:pPr>
            <a:r>
              <a:rPr sz="950" b="0">
                <a:solidFill>
                  <a:srgbClr val="0F172A"/>
                </a:solidFill>
                <a:latin typeface="Nirmala UI"/>
              </a:rPr>
              <a:t>💧 ਤੁਪਕਾ / ਛਿੜਕਾਅ ਸਿੰਚਾਈ ਅਪਣਾਓ।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45168" y="1554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Also shipped</a:t>
            </a:r>
          </a:p>
        </p:txBody>
      </p:sp>
      <p:sp>
        <p:nvSpPr>
          <p:cNvPr id="17" name="Oval 16"/>
          <p:cNvSpPr/>
          <p:nvPr/>
        </p:nvSpPr>
        <p:spPr>
          <a:xfrm>
            <a:off x="9345168" y="2025396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82912" y="1929384"/>
            <a:ext cx="20482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SMS fallback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82912" y="2171700"/>
            <a:ext cx="20482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160-char version for feature phones</a:t>
            </a:r>
          </a:p>
        </p:txBody>
      </p:sp>
      <p:sp>
        <p:nvSpPr>
          <p:cNvPr id="20" name="Oval 19"/>
          <p:cNvSpPr/>
          <p:nvPr/>
        </p:nvSpPr>
        <p:spPr>
          <a:xfrm>
            <a:off x="9345168" y="2610612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82912" y="2514600"/>
            <a:ext cx="20482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HTML → PDF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82912" y="2756916"/>
            <a:ext cx="20482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printable district advisory</a:t>
            </a:r>
          </a:p>
        </p:txBody>
      </p:sp>
      <p:sp>
        <p:nvSpPr>
          <p:cNvPr id="23" name="Oval 22"/>
          <p:cNvSpPr/>
          <p:nvPr/>
        </p:nvSpPr>
        <p:spPr>
          <a:xfrm>
            <a:off x="9345168" y="3195828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82912" y="3099816"/>
            <a:ext cx="20482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CSV / JSON export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82912" y="3342132"/>
            <a:ext cx="20482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for the bank's own pipeline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45168" y="3428999"/>
            <a:ext cx="2286000" cy="2029968"/>
          </a:xfrm>
          <a:prstGeom prst="roundRect">
            <a:avLst>
              <a:gd name="adj" fmla="val 6000"/>
            </a:avLst>
          </a:prstGeom>
          <a:solidFill>
            <a:srgbClr val="ECFE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45168" y="3428999"/>
            <a:ext cx="50292" cy="202996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82912" y="3611880"/>
            <a:ext cx="19202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000" b="0">
                <a:solidFill>
                  <a:srgbClr val="0F172A"/>
                </a:solidFill>
                <a:latin typeface="Segoe UI"/>
              </a:rPr>
              <a:t>The quota is in farmer units, not mm/week.
"Run the pump 10 hours, then wait 40 days."
Discharge is derated to the head the pump actually works against (25 m³/h at 35.6 m — not the free-delivery nameplate). Deeper water means more hours and more power for the same crop.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41908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AquaCast-Punjab  ·  Sankalp — Climate-Smart Agriculture, Water &amp; Rural Credit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1908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94A3B8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0369A1"/>
                </a:solidFill>
                <a:latin typeface="Segoe UI"/>
              </a:rPr>
              <a:t>WOW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0F172A"/>
                </a:solidFill>
                <a:latin typeface="Segoe UI"/>
              </a:rPr>
              <a:t>WOW 04 · The Model Lab — we show you the receipts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658368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554480"/>
            <a:ext cx="3566160" cy="457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9222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Live training curve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57984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Train vs validation RMSE, epoch by epoch, read from the shipped checkpoint. Not a screenshot — the actual history object.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55448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1554480"/>
            <a:ext cx="3566160" cy="45720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MC-dropout bands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57984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60 stochastic forward passes at inference. The ±σ you see is real model uncertainty, not a decorative fan.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155448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5008" y="1554480"/>
            <a:ext cx="3566160" cy="457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79222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Permutation importance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157984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Shuffle a channel, re-score, report the damage in metres. Repeats give you the error bar.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15468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3154680"/>
            <a:ext cx="356616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39242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Gradient saliency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758184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Input-gradient attribution across the 60-day window — which days moved the forecast.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5968" y="315468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15968" y="3154680"/>
            <a:ext cx="3566160" cy="457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339242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Model benchmark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758184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LSTM vs GRU vs linear probe vs persistence, retrained live in the app on identical data.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65008" y="315468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65008" y="3154680"/>
            <a:ext cx="3566160" cy="4572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339242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Provenance ledger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758184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Measured vs generated days, station counts, file names — printed on the same screen as the metrics.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80060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0B1E30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4800600"/>
            <a:ext cx="50292" cy="86868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4992624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Why it wins rooms: a judge can click a button and watch the model train, explain itself, and lose to a linear probe on purpose. That is harder to fake than a metric.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41908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AquaCast-Punjab  ·  Sankalp — Climate-Smart Agriculture, Water &amp; Rural Credit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1908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94A3B8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0369A1"/>
                </a:solidFill>
                <a:latin typeface="Segoe UI"/>
              </a:rPr>
              <a:t>CREDIT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0F172A"/>
                </a:solidFill>
                <a:latin typeface="Segoe UI"/>
              </a:rPr>
              <a:t>The same forecast, priced: who defaults when the well goes dry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658368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portfol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413" y="1554480"/>
            <a:ext cx="5385589" cy="260604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607808" y="1600200"/>
          <a:ext cx="4169664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685800"/>
                <a:gridCol w="749808"/>
                <a:gridCol w="548640"/>
                <a:gridCol w="658368"/>
                <a:gridCol w="658368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District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Risk score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Band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PD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Exposure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Expected loss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Sangrur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62/100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9.40%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₹191 cr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₹10.8 cr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Ludhiana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33/100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Moderate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3.27%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₹294 cr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₹5.8 cr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Moga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37/100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Moderate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3.91%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₹121 cr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₹2.8 cr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66928" y="4297680"/>
            <a:ext cx="2633472" cy="12344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4297680"/>
            <a:ext cx="50292" cy="1234440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480560"/>
            <a:ext cx="222199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0369A1"/>
                </a:solidFill>
                <a:latin typeface="Segoe UI"/>
              </a:rPr>
              <a:t>₹607 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84064"/>
            <a:ext cx="22219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portfolio exposure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2424" y="4297680"/>
            <a:ext cx="2633472" cy="12344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92424" y="4297680"/>
            <a:ext cx="50292" cy="1234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48456" y="4480560"/>
            <a:ext cx="222199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59E0B"/>
                </a:solidFill>
                <a:latin typeface="Segoe UI"/>
              </a:rPr>
              <a:t>3.2%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8456" y="5084064"/>
            <a:ext cx="22219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portfolio-at-risk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297680"/>
            <a:ext cx="2633472" cy="12344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4297680"/>
            <a:ext cx="50292" cy="12344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4480560"/>
            <a:ext cx="222199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EF4444"/>
                </a:solidFill>
                <a:latin typeface="Segoe UI"/>
              </a:rPr>
              <a:t>₹19.4 cr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5084064"/>
            <a:ext cx="22219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expected loss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43416" y="4297680"/>
            <a:ext cx="2633472" cy="12344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43416" y="4297680"/>
            <a:ext cx="50292" cy="123444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9448" y="4480560"/>
            <a:ext cx="222199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22C55E"/>
                </a:solidFill>
                <a:latin typeface="Segoe UI"/>
              </a:rPr>
              <a:t>₹4.3 cr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9448" y="5084064"/>
            <a:ext cx="22219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avoidable with advisory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724143"/>
            <a:ext cx="11064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Seven weighted drivers — depth, pump-failure risk, forecast drawdown, stage of extraction, crop stage, monsoon anomaly and drip adoption — produce a 0–100 score, a probability of default and a rupee expected loss. The bank gets a number it can price; the farmer gets an early-warning text, not a rejection.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1908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AquaCast-Punjab  ·  Sankalp — Climate-Smart Agriculture, Water &amp; Rural Credit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1908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94A3B8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0369A1"/>
                </a:solidFill>
                <a:latin typeface="Segoe UI"/>
              </a:rPr>
              <a:t>HOW IT IS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0F172A"/>
                </a:solidFill>
                <a:latin typeface="Segoe UI"/>
              </a:rPr>
              <a:t>Production engineering, not a notebook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658368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8" y="1623060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27048"/>
            <a:ext cx="5111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One command, whole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769364"/>
            <a:ext cx="51114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python3 run_pipeline.py — pre-flight, ingest, build, train, evaluate, advise, launch. 45 s cold.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2226563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30551"/>
            <a:ext cx="5111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24 automated assertions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72867"/>
            <a:ext cx="51114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3 districts × (advisory, wells, twin, spatial, geojson) + evaluation, importance, saliency, every chart, and the two audit regressions.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2830066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734054"/>
            <a:ext cx="5111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Caching everywhere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976370"/>
            <a:ext cx="51114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Climate model, datasets, forecasts and maps are content-hashed and cached — the UI never waits on a fit.</a:t>
            </a:r>
          </a:p>
        </p:txBody>
      </p:sp>
      <p:sp>
        <p:nvSpPr>
          <p:cNvPr id="15" name="Oval 14"/>
          <p:cNvSpPr/>
          <p:nvPr/>
        </p:nvSpPr>
        <p:spPr>
          <a:xfrm>
            <a:off x="566928" y="3433569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337557"/>
            <a:ext cx="5111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No mocked numbers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3579873"/>
            <a:ext cx="51114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Every figure in the app and this deck is computed from data/ at run time. Change the data, the deck rebuilds itself.</a:t>
            </a:r>
          </a:p>
        </p:txBody>
      </p:sp>
      <p:sp>
        <p:nvSpPr>
          <p:cNvPr id="18" name="Oval 17"/>
          <p:cNvSpPr/>
          <p:nvPr/>
        </p:nvSpPr>
        <p:spPr>
          <a:xfrm>
            <a:off x="6309360" y="1623060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7104" y="1527048"/>
            <a:ext cx="5111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Typed, documented, linted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1769364"/>
            <a:ext cx="51114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Docstrings carry the physical reasoning, not just the signature. Constants are named and collected in one config module.</a:t>
            </a:r>
          </a:p>
        </p:txBody>
      </p:sp>
      <p:sp>
        <p:nvSpPr>
          <p:cNvPr id="21" name="Oval 20"/>
          <p:cNvSpPr/>
          <p:nvPr/>
        </p:nvSpPr>
        <p:spPr>
          <a:xfrm>
            <a:off x="6309360" y="2226563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47104" y="2130551"/>
            <a:ext cx="5111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Graceful degradation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7104" y="2372867"/>
            <a:ext cx="51114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No model checkpoint? The app still serves the physics twin and the advisory. No map? It falls back to a scatter.</a:t>
            </a:r>
          </a:p>
        </p:txBody>
      </p:sp>
      <p:sp>
        <p:nvSpPr>
          <p:cNvPr id="24" name="Oval 23"/>
          <p:cNvSpPr/>
          <p:nvPr/>
        </p:nvSpPr>
        <p:spPr>
          <a:xfrm>
            <a:off x="6309360" y="2830066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4" y="2734054"/>
            <a:ext cx="5111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Reproducible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4" y="2976370"/>
            <a:ext cx="51114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Seeded torch/numpy, pinned requirements.txt, a rebuild script for the spatial assets, and an artefacts manifest on exit.</a:t>
            </a:r>
          </a:p>
        </p:txBody>
      </p:sp>
      <p:sp>
        <p:nvSpPr>
          <p:cNvPr id="27" name="Oval 26"/>
          <p:cNvSpPr/>
          <p:nvPr/>
        </p:nvSpPr>
        <p:spPr>
          <a:xfrm>
            <a:off x="6309360" y="3433569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7104" y="3337557"/>
            <a:ext cx="5111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Honest by construction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3579873"/>
            <a:ext cx="51114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Baselines ship with the model. Provenance columns ship with the data. Limitations ship with the README.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572000"/>
            <a:ext cx="11064240" cy="932688"/>
          </a:xfrm>
          <a:prstGeom prst="roundRect">
            <a:avLst>
              <a:gd name="adj" fmla="val 6000"/>
            </a:avLst>
          </a:prstGeom>
          <a:solidFill>
            <a:srgbClr val="0B1E30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4572000"/>
            <a:ext cx="50292" cy="93268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475488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52,547 parameters · 1,828-day daily frame · 1,713 training sequences · ~25 s to train on CPU · sub-0.2 s digital twin · 4-tab Streamlit dashboard · 26 MB of real Punjab 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41908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AquaCast-Punjab  ·  Sankalp — Climate-Smart Agriculture, Water &amp; Rural Credit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1908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94A3B8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0369A1"/>
                </a:solidFill>
                <a:latin typeface="Segoe UI"/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0F172A"/>
                </a:solidFill>
                <a:latin typeface="Segoe UI"/>
              </a:rPr>
              <a:t>What we would tell a reviewer before they 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658368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11064240" cy="95097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554480"/>
            <a:ext cx="50292" cy="950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682496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The daily trajectory is modelled, not measured.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975104"/>
            <a:ext cx="106070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Only 31 in-situ CGWB readings exist for these districts (2021–2024). The continuous daily curve is a calibrated FAO-56 water balance. We anchor its level to the readings and its decline to the published district rate — but it is a reconstruction, and the RMSE figures measure forecast skill against that reconstruction.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15184"/>
            <a:ext cx="11064240" cy="95097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615184"/>
            <a:ext cx="50292" cy="950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74320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31 readings is a thin calibration set.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35808"/>
            <a:ext cx="106070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The recharge lag and scalar are fitted to them. More well data would tighten both. The seasonal-shape fit is 0.47–0.50 m after removing each well's static lithology offset.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75888"/>
            <a:ext cx="11064240" cy="95097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3675888"/>
            <a:ext cx="50292" cy="950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803904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Part of the weather record is generated, not measured.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096512"/>
            <a:ext cx="106070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84.2% of rainfall days and 58.5% of temperature days are measured telemetry; the gaps — scattered through the record, and every day after the gauges stop reporting — come from the fitted climate model. Every row is flagged, and both are visible in the chart above.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736592"/>
            <a:ext cx="11064240" cy="95097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736592"/>
            <a:ext cx="50292" cy="950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4864608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Three districts, not 23.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5157216"/>
            <a:ext cx="106070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Sangrur, Ludhiana and Moga were chosen because the Drive data covers them. The spatial layer ships all 22 Punjab districts, so extension is a data-refresh, not a rewrite.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8521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0369A1"/>
                </a:solidFill>
                <a:latin typeface="Segoe UI"/>
              </a:rPr>
              <a:t>None of these are hidden in the product: the dashboard's provenance tab prints all of them.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1908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AquaCast-Punjab  ·  Sankalp — Climate-Smart Agriculture, Water &amp; Rural Credit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1908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94A3B8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0369A1"/>
                </a:solidFill>
                <a:latin typeface="Segoe UI"/>
              </a:rP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0F172A"/>
                </a:solidFill>
                <a:latin typeface="Segoe UI"/>
              </a:rPr>
              <a:t>Why this wins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658368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6928" y="1623060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27048"/>
            <a:ext cx="5340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A forecast that beats the obvious baselines, and we prove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769364"/>
            <a:ext cx="53400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0.099–0.117 m RMSE, 67.4–70.9% skill vs persistence, reported next to persistence, seasonal-naive, linear-trend, a GRU and a linear probe.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2244852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48840"/>
            <a:ext cx="5340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Real Punjab data, and an honest account of every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91156"/>
            <a:ext cx="53400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1,828-day frame, 1,540 measured rainfall days, 31 CGWB readings, 122 wells, 8 real rasters.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2866644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770632"/>
            <a:ext cx="5340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It ends in an action, not a chart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012948"/>
            <a:ext cx="53400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A pumping quota in hours-per-irrigation, a bilingual WhatsApp card, a well-level risk map and a credit score.</a:t>
            </a:r>
          </a:p>
        </p:txBody>
      </p:sp>
      <p:sp>
        <p:nvSpPr>
          <p:cNvPr id="15" name="Oval 14"/>
          <p:cNvSpPr/>
          <p:nvPr/>
        </p:nvSpPr>
        <p:spPr>
          <a:xfrm>
            <a:off x="566928" y="3488436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392424"/>
            <a:ext cx="5340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You can open it and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3634740"/>
            <a:ext cx="53400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Live training curve, MC-dropout bands, permutation importance, gradient saliency, a re-trainable benchmark, and a provenance ledger.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1554480"/>
            <a:ext cx="5193792" cy="30175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46520" y="1554480"/>
            <a:ext cx="50292" cy="30175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02552" y="1773936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Next 90 days</a:t>
            </a:r>
          </a:p>
        </p:txBody>
      </p:sp>
      <p:sp>
        <p:nvSpPr>
          <p:cNvPr id="21" name="Oval 20"/>
          <p:cNvSpPr/>
          <p:nvPr/>
        </p:nvSpPr>
        <p:spPr>
          <a:xfrm>
            <a:off x="6702552" y="2249424"/>
            <a:ext cx="68580" cy="6858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31152" y="2176272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Extend to all 22 Punjab districts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1152" y="2414016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spatial layer already ships them</a:t>
            </a:r>
          </a:p>
        </p:txBody>
      </p:sp>
      <p:sp>
        <p:nvSpPr>
          <p:cNvPr id="24" name="Oval 23"/>
          <p:cNvSpPr/>
          <p:nvPr/>
        </p:nvSpPr>
        <p:spPr>
          <a:xfrm>
            <a:off x="6702552" y="2852928"/>
            <a:ext cx="68580" cy="6858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31152" y="2779776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Ingest CGWB's quarterly well census automatically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1152" y="301752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replaces the static reading set</a:t>
            </a:r>
          </a:p>
        </p:txBody>
      </p:sp>
      <p:sp>
        <p:nvSpPr>
          <p:cNvPr id="27" name="Oval 26"/>
          <p:cNvSpPr/>
          <p:nvPr/>
        </p:nvSpPr>
        <p:spPr>
          <a:xfrm>
            <a:off x="6702552" y="3456432"/>
            <a:ext cx="68580" cy="6858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31152" y="33832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Pilot with a regional rural bank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31152" y="3621024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portfolio view is already priced in ₹</a:t>
            </a:r>
          </a:p>
        </p:txBody>
      </p:sp>
      <p:sp>
        <p:nvSpPr>
          <p:cNvPr id="30" name="Oval 29"/>
          <p:cNvSpPr/>
          <p:nvPr/>
        </p:nvSpPr>
        <p:spPr>
          <a:xfrm>
            <a:off x="6702552" y="4059936"/>
            <a:ext cx="68580" cy="6858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31152" y="3986784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Add a farmer reply loop (STOP / CONFIRM)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31152" y="422452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the SMS contract is already written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41908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AquaCast-Punjab  ·  Sankalp — Climate-Smart Agriculture, Water &amp; Rural Credit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1908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94A3B8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0369A1"/>
                </a:solidFill>
                <a:latin typeface="Segoe UI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0F172A"/>
                </a:solidFill>
                <a:latin typeface="Segoe UI"/>
              </a:rPr>
              <a:t>One model, three rooms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658368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64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The same forecast means three different things to three different people. One switcher, three views, one model underneath.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029968"/>
            <a:ext cx="3529584" cy="395020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029968"/>
            <a:ext cx="3529584" cy="5029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231136"/>
            <a:ext cx="31272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📱  Kisan mobile</a:t>
            </a:r>
          </a:p>
        </p:txBody>
      </p:sp>
      <p:sp>
        <p:nvSpPr>
          <p:cNvPr id="10" name="Oval 9"/>
          <p:cNvSpPr/>
          <p:nvPr/>
        </p:nvSpPr>
        <p:spPr>
          <a:xfrm>
            <a:off x="786384" y="2738628"/>
            <a:ext cx="68580" cy="6858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670048"/>
            <a:ext cx="2907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375 px, high contrast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889504"/>
            <a:ext cx="29077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one dial, one instruction</a:t>
            </a:r>
          </a:p>
        </p:txBody>
      </p:sp>
      <p:sp>
        <p:nvSpPr>
          <p:cNvPr id="13" name="Oval 12"/>
          <p:cNvSpPr/>
          <p:nvPr/>
        </p:nvSpPr>
        <p:spPr>
          <a:xfrm>
            <a:off x="786384" y="3273552"/>
            <a:ext cx="68580" cy="6858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204972"/>
            <a:ext cx="2907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English / ਪੰਜਾਬੀ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424428"/>
            <a:ext cx="29077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Gurmukhi toggle, not transliteration</a:t>
            </a:r>
          </a:p>
        </p:txBody>
      </p:sp>
      <p:sp>
        <p:nvSpPr>
          <p:cNvPr id="16" name="Oval 15"/>
          <p:cNvSpPr/>
          <p:nvPr/>
        </p:nvSpPr>
        <p:spPr>
          <a:xfrm>
            <a:off x="786384" y="3808476"/>
            <a:ext cx="68580" cy="6858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3739896"/>
            <a:ext cx="2907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Safe · Warning · Pump failure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3959352"/>
            <a:ext cx="29077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from the advisory's own zone</a:t>
            </a:r>
          </a:p>
        </p:txBody>
      </p:sp>
      <p:sp>
        <p:nvSpPr>
          <p:cNvPr id="19" name="Oval 18"/>
          <p:cNvSpPr/>
          <p:nvPr/>
        </p:nvSpPr>
        <p:spPr>
          <a:xfrm>
            <a:off x="786384" y="4343400"/>
            <a:ext cx="68580" cy="6858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274820"/>
            <a:ext cx="2907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“Run the pump 6 h, 22:00–04:00”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4494276"/>
            <a:ext cx="29077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a window, not a warning</a:t>
            </a:r>
          </a:p>
        </p:txBody>
      </p:sp>
      <p:sp>
        <p:nvSpPr>
          <p:cNvPr id="22" name="Oval 21"/>
          <p:cNvSpPr/>
          <p:nvPr/>
        </p:nvSpPr>
        <p:spPr>
          <a:xfrm>
            <a:off x="786384" y="4878324"/>
            <a:ext cx="68580" cy="6858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4809744"/>
            <a:ext cx="2907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Next critical stage in 30 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5029200"/>
            <a:ext cx="29077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CRI and flowering cannot be missed</a:t>
            </a:r>
          </a:p>
        </p:txBody>
      </p:sp>
      <p:sp>
        <p:nvSpPr>
          <p:cNvPr id="25" name="Oval 24"/>
          <p:cNvSpPr/>
          <p:nvPr/>
        </p:nvSpPr>
        <p:spPr>
          <a:xfrm>
            <a:off x="786384" y="5413248"/>
            <a:ext cx="68580" cy="6858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" y="5344668"/>
            <a:ext cx="2907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WhatsApp / SMS push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" y="5564124"/>
            <a:ext cx="29077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with a Gurmukhi fallback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79392" y="2029968"/>
            <a:ext cx="3529584" cy="395020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79392" y="2029968"/>
            <a:ext cx="3529584" cy="5029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2231136"/>
            <a:ext cx="31272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🧑‍🌾  Farmer desktop</a:t>
            </a:r>
          </a:p>
        </p:txBody>
      </p:sp>
      <p:sp>
        <p:nvSpPr>
          <p:cNvPr id="31" name="Oval 30"/>
          <p:cNvSpPr/>
          <p:nvPr/>
        </p:nvSpPr>
        <p:spPr>
          <a:xfrm>
            <a:off x="4498848" y="2738628"/>
            <a:ext cx="68580" cy="6858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2670048"/>
            <a:ext cx="2907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Water budget, season by season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0016" y="2889504"/>
            <a:ext cx="29077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Rabi / Zaid / Kharif in MCM</a:t>
            </a:r>
          </a:p>
        </p:txBody>
      </p:sp>
      <p:sp>
        <p:nvSpPr>
          <p:cNvPr id="34" name="Oval 33"/>
          <p:cNvSpPr/>
          <p:nvPr/>
        </p:nvSpPr>
        <p:spPr>
          <a:xfrm>
            <a:off x="4498848" y="3273552"/>
            <a:ext cx="68580" cy="6858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00016" y="3204972"/>
            <a:ext cx="2907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Neighbour-pump calculator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0016" y="3424428"/>
            <a:ext cx="29077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Cooper–Jacob at your spacing</a:t>
            </a:r>
          </a:p>
        </p:txBody>
      </p:sp>
      <p:sp>
        <p:nvSpPr>
          <p:cNvPr id="37" name="Oval 36"/>
          <p:cNvSpPr/>
          <p:nvPr/>
        </p:nvSpPr>
        <p:spPr>
          <a:xfrm>
            <a:off x="4498848" y="3808476"/>
            <a:ext cx="68580" cy="6858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00016" y="3739896"/>
            <a:ext cx="2907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Rotation simulator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00016" y="3959352"/>
            <a:ext cx="29077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shift hectares out of paddy</a:t>
            </a:r>
          </a:p>
        </p:txBody>
      </p:sp>
      <p:sp>
        <p:nvSpPr>
          <p:cNvPr id="40" name="Oval 39"/>
          <p:cNvSpPr/>
          <p:nvPr/>
        </p:nvSpPr>
        <p:spPr>
          <a:xfrm>
            <a:off x="4498848" y="4343400"/>
            <a:ext cx="68580" cy="6858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00016" y="4274820"/>
            <a:ext cx="2907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Drilling calculator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00016" y="4494276"/>
            <a:ext cx="29077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₹ by depth, HP and pump class</a:t>
            </a:r>
          </a:p>
        </p:txBody>
      </p:sp>
      <p:sp>
        <p:nvSpPr>
          <p:cNvPr id="43" name="Oval 42"/>
          <p:cNvSpPr/>
          <p:nvPr/>
        </p:nvSpPr>
        <p:spPr>
          <a:xfrm>
            <a:off x="4498848" y="4878324"/>
            <a:ext cx="68580" cy="6858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00016" y="4809744"/>
            <a:ext cx="2907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Strata cross-section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00016" y="5029200"/>
            <a:ext cx="29077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where the table is going, in m and ₹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991856" y="2029968"/>
            <a:ext cx="3529584" cy="395020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991856" y="2029968"/>
            <a:ext cx="3529584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93024" y="2231136"/>
            <a:ext cx="31272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🏛️  Administrator &amp; Finserv</a:t>
            </a:r>
          </a:p>
        </p:txBody>
      </p:sp>
      <p:sp>
        <p:nvSpPr>
          <p:cNvPr id="49" name="Oval 48"/>
          <p:cNvSpPr/>
          <p:nvPr/>
        </p:nvSpPr>
        <p:spPr>
          <a:xfrm>
            <a:off x="8211312" y="2738628"/>
            <a:ext cx="68580" cy="68580"/>
          </a:xfrm>
          <a:prstGeom prst="ellipse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12480" y="2670048"/>
            <a:ext cx="2907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Wells, lithology, dependency arcs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0" y="2889504"/>
            <a:ext cx="29077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click a well, see its cone</a:t>
            </a:r>
          </a:p>
        </p:txBody>
      </p:sp>
      <p:sp>
        <p:nvSpPr>
          <p:cNvPr id="52" name="Oval 51"/>
          <p:cNvSpPr/>
          <p:nvPr/>
        </p:nvSpPr>
        <p:spPr>
          <a:xfrm>
            <a:off x="8211312" y="3273552"/>
            <a:ext cx="68580" cy="68580"/>
          </a:xfrm>
          <a:prstGeom prst="ellipse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80" y="3204972"/>
            <a:ext cx="2907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Block stress heatmap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2480" y="3424428"/>
            <a:ext cx="29077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real blocks, real wells</a:t>
            </a:r>
          </a:p>
        </p:txBody>
      </p:sp>
      <p:sp>
        <p:nvSpPr>
          <p:cNvPr id="55" name="Oval 54"/>
          <p:cNvSpPr/>
          <p:nvPr/>
        </p:nvSpPr>
        <p:spPr>
          <a:xfrm>
            <a:off x="8211312" y="3808476"/>
            <a:ext cx="68580" cy="68580"/>
          </a:xfrm>
          <a:prstGeom prst="ellipse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12480" y="3739896"/>
            <a:ext cx="2907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Portfolio at risk in ₹ Crore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0" y="3959352"/>
            <a:ext cx="29077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over-exploited vs critical</a:t>
            </a:r>
          </a:p>
        </p:txBody>
      </p:sp>
      <p:sp>
        <p:nvSpPr>
          <p:cNvPr id="58" name="Oval 57"/>
          <p:cNvSpPr/>
          <p:nvPr/>
        </p:nvSpPr>
        <p:spPr>
          <a:xfrm>
            <a:off x="8211312" y="4343400"/>
            <a:ext cx="68580" cy="68580"/>
          </a:xfrm>
          <a:prstGeom prst="ellipse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12480" y="4274820"/>
            <a:ext cx="2907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Deepening vs drip NPV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12480" y="4494276"/>
            <a:ext cx="29077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which one do we finance?</a:t>
            </a:r>
          </a:p>
        </p:txBody>
      </p:sp>
      <p:sp>
        <p:nvSpPr>
          <p:cNvPr id="61" name="Oval 60"/>
          <p:cNvSpPr/>
          <p:nvPr/>
        </p:nvSpPr>
        <p:spPr>
          <a:xfrm>
            <a:off x="8211312" y="4878324"/>
            <a:ext cx="68580" cy="68580"/>
          </a:xfrm>
          <a:prstGeom prst="ellipse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412480" y="4809744"/>
            <a:ext cx="2907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8-hour supply optimiser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12480" y="5029200"/>
            <a:ext cx="29077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rotate feeders against crop stage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6928" y="641908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AquaCast-Punjab  ·  Sankalp — Climate-Smart Agriculture, Water &amp; Rural Credit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972800" y="641908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94A3B8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0369A1"/>
                </a:solidFill>
                <a:latin typeface="Segoe UI"/>
              </a:rPr>
              <a:t>MODULES A &amp;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0F172A"/>
                </a:solidFill>
                <a:latin typeface="Segoe UI"/>
              </a:rPr>
              <a:t>The physics: nobody's pump is the problem, everybody's 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658368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2615184" cy="117043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554480"/>
            <a:ext cx="50292" cy="1170432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2203704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94A3B8"/>
                </a:solidFill>
                <a:latin typeface="Segoe UI"/>
              </a:rPr>
              <a:t>0.046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40864"/>
            <a:ext cx="22037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one tubewell moves a neighbour's piezometer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04288"/>
            <a:ext cx="2203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94A3B8"/>
                </a:solidFill>
                <a:latin typeface="Segoe UI"/>
              </a:rPr>
              <a:t>690 bores · 15 village clusters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1554480"/>
            <a:ext cx="2615184" cy="117043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01568" y="1554480"/>
            <a:ext cx="50292" cy="1170432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1737360"/>
            <a:ext cx="2203704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EF4444"/>
                </a:solidFill>
                <a:latin typeface="Segoe UI"/>
              </a:rPr>
              <a:t>0.96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340864"/>
            <a:ext cx="22037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the same village, superposed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304288"/>
            <a:ext cx="2203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EF4444"/>
                </a:solidFill>
                <a:latin typeface="Segoe UI"/>
              </a:rPr>
              <a:t>a 0.8% sample of 92,000 real bores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554480"/>
            <a:ext cx="2615184" cy="117043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554480"/>
            <a:ext cx="50292" cy="11704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737360"/>
            <a:ext cx="2203704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59E0B"/>
                </a:solidFill>
                <a:latin typeface="Segoe UI"/>
              </a:rPr>
              <a:t>59%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340864"/>
            <a:ext cx="22037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of the year's draft pumped before wheat sowing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304288"/>
            <a:ext cx="2203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59E0B"/>
                </a:solidFill>
                <a:latin typeface="Segoe UI"/>
              </a:rPr>
              <a:t>1,468 MCM, 1 Jun → 1 Nov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70848" y="1554480"/>
            <a:ext cx="2615184" cy="117043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70848" y="1554480"/>
            <a:ext cx="50292" cy="117043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1737360"/>
            <a:ext cx="2203704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0369A1"/>
                </a:solidFill>
                <a:latin typeface="Segoe UI"/>
              </a:rPr>
              <a:t>0.85 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340864"/>
            <a:ext cx="22037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annual swing, on top of 0.65 m/yr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304288"/>
            <a:ext cx="2203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0369A1"/>
                </a:solidFill>
                <a:latin typeface="Segoe UI"/>
              </a:rPr>
              <a:t>deepest Jul · shallowest Dec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035808"/>
            <a:ext cx="5532120" cy="221284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3035808"/>
            <a:ext cx="50292" cy="221284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21868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Full-year rotation, priced</a:t>
            </a:r>
          </a:p>
        </p:txBody>
      </p:sp>
      <p:sp>
        <p:nvSpPr>
          <p:cNvPr id="29" name="Oval 28"/>
          <p:cNvSpPr/>
          <p:nvPr/>
        </p:nvSpPr>
        <p:spPr>
          <a:xfrm>
            <a:off x="804672" y="3671316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2416" y="3575304"/>
            <a:ext cx="47000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0F172A"/>
                </a:solidFill>
                <a:latin typeface="Segoe UI"/>
              </a:rPr>
              <a:t>Rabi wheat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" y="3817620"/>
            <a:ext cx="47000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350 mm → 980 MCM</a:t>
            </a:r>
          </a:p>
        </p:txBody>
      </p:sp>
      <p:sp>
        <p:nvSpPr>
          <p:cNvPr id="32" name="Oval 31"/>
          <p:cNvSpPr/>
          <p:nvPr/>
        </p:nvSpPr>
        <p:spPr>
          <a:xfrm>
            <a:off x="804672" y="4274819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2416" y="4178807"/>
            <a:ext cx="47000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0F172A"/>
                </a:solidFill>
                <a:latin typeface="Segoe UI"/>
              </a:rPr>
              <a:t>Kharif paddy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" y="4421123"/>
            <a:ext cx="47000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550 mm → 1,441 MCM, ponded</a:t>
            </a:r>
          </a:p>
        </p:txBody>
      </p:sp>
      <p:sp>
        <p:nvSpPr>
          <p:cNvPr id="35" name="Oval 34"/>
          <p:cNvSpPr/>
          <p:nvPr/>
        </p:nvSpPr>
        <p:spPr>
          <a:xfrm>
            <a:off x="804672" y="4878322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2416" y="4782310"/>
            <a:ext cx="47000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0F172A"/>
                </a:solidFill>
                <a:latin typeface="Segoe UI"/>
              </a:rPr>
              <a:t>Zaid summer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" y="5024626"/>
            <a:ext cx="47000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70 MCM on a minority of holdings</a:t>
            </a:r>
          </a:p>
        </p:txBody>
      </p:sp>
      <p:sp>
        <p:nvSpPr>
          <p:cNvPr id="38" name="Oval 37"/>
          <p:cNvSpPr/>
          <p:nvPr/>
        </p:nvSpPr>
        <p:spPr>
          <a:xfrm>
            <a:off x="804672" y="5481825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2416" y="5385813"/>
            <a:ext cx="47000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0F172A"/>
                </a:solidFill>
                <a:latin typeface="Segoe UI"/>
              </a:rPr>
              <a:t>Reconciles with the twin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2416" y="5628129"/>
            <a:ext cx="47000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2,491 MCM/yr vs its 2,488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55080" y="3035808"/>
            <a:ext cx="5285232" cy="221284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55080" y="3035808"/>
            <a:ext cx="50292" cy="22128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2824" y="321868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We checked the brief against the data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2824" y="3584448"/>
            <a:ext cx="48463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“Monsoon flooding depletes the aquifer before November sowing.” — it does not.</a:t>
            </a:r>
            <a:r>
              <a:rPr sz="1050" b="0">
                <a:solidFill>
                  <a:srgbClr val="64748B"/>
                </a:solidFill>
                <a:latin typeface="Segoe UI"/>
              </a:rPr>
              <a:t>The detrended hydrograph bottoms out in Jul and peaks in Dec. The monsoon refills the aquifer; the Rabi wheat season drains it into the summer trough. The monsoon refills but does not restore — each November starts 0.65 m deeper than the last.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641908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AquaCast-Punjab  ·  Sankalp — Climate-Smart Agriculture, Water &amp; Rural Credit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0" y="641908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94A3B8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0369A1"/>
                </a:solidFill>
                <a:latin typeface="Segoe UI"/>
              </a:rPr>
              <a:t>MODULE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0F172A"/>
                </a:solidFill>
                <a:latin typeface="Segoe UI"/>
              </a:rPr>
              <a:t>The ground: 8.0 m from the next aquifer, 10.0 years away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658368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64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Sangrur is pumping from L1 today. At 0.8 m/yr it crosses into L2 around 2036 — and the step is not free.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011680"/>
          <a:ext cx="6766559" cy="1499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1408"/>
                <a:gridCol w="1042415"/>
                <a:gridCol w="1700784"/>
                <a:gridCol w="822960"/>
                <a:gridCol w="107899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Unit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Depth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Pump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Duty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Bore cost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Segoe UI"/>
                        </a:rPr>
                        <a:t>L1  Shallow unconfined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Segoe UI"/>
                        </a:rPr>
                        <a:t>0–40 m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Segoe UI"/>
                        </a:rPr>
                        <a:t>Submersible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Segoe UI"/>
                        </a:rPr>
                        <a:t>8.6 HP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Segoe UI"/>
                        </a:rPr>
                        <a:t>L2  Semi-confined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Segoe UI"/>
                        </a:rPr>
                        <a:t>40–90 m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Segoe UI"/>
                        </a:rPr>
                        <a:t>Submersible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Segoe UI"/>
                        </a:rPr>
                        <a:t>15.3 HP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Segoe UI"/>
                        </a:rPr>
                        <a:t>+₹1.36 L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Segoe UI"/>
                        </a:rPr>
                        <a:t>L3  Deep confined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Segoe UI"/>
                        </a:rPr>
                        <a:t>&gt; 90 m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Segoe UI"/>
                        </a:rPr>
                        <a:t>High-head submersible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Segoe UI"/>
                        </a:rPr>
                        <a:t>25–40 HP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Segoe UI"/>
                        </a:rPr>
                        <a:t>+₹1.6 L more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4096511"/>
            <a:ext cx="67665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Measured, not assumed — 25 real CGWB lithologs in Sangrur:</a:t>
            </a:r>
            <a:r>
              <a:rPr sz="1050" b="0">
                <a:solidFill>
                  <a:srgbClr val="64748B"/>
                </a:solidFill>
                <a:latin typeface="Segoe UI"/>
              </a:rPr>
              <a:t>median transmissivity 1,620 m²/d · median drilled depth 210 m · median EC 733 µS/cm · 0.0% above the saline threshold.</a:t>
            </a:r>
            <a:r>
              <a:rPr sz="1050" b="0">
                <a:solidFill>
                  <a:srgbClr val="64748B"/>
                </a:solidFill>
                <a:latin typeface="Segoe UI"/>
              </a:rPr>
              <a:t>We do not claim the deep water is saltier. EC correlates with drilled depth at r = +0.024 — no relationship. Salinity is flagged as a literature risk, never as a finding.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07808" y="2011680"/>
            <a:ext cx="4032504" cy="30175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7808" y="2011680"/>
            <a:ext cx="50292" cy="30175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45552" y="219456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Why deepening compounds</a:t>
            </a:r>
          </a:p>
        </p:txBody>
      </p:sp>
      <p:sp>
        <p:nvSpPr>
          <p:cNvPr id="12" name="Oval 11"/>
          <p:cNvSpPr/>
          <p:nvPr/>
        </p:nvSpPr>
        <p:spPr>
          <a:xfrm>
            <a:off x="7845552" y="2647188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83296" y="2551176"/>
            <a:ext cx="33284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0F172A"/>
                </a:solidFill>
                <a:latin typeface="Segoe UI"/>
              </a:rPr>
              <a:t>The pump must 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2793492"/>
            <a:ext cx="33284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8.6 → 15.3 HP</a:t>
            </a:r>
          </a:p>
        </p:txBody>
      </p:sp>
      <p:sp>
        <p:nvSpPr>
          <p:cNvPr id="15" name="Oval 14"/>
          <p:cNvSpPr/>
          <p:nvPr/>
        </p:nvSpPr>
        <p:spPr>
          <a:xfrm>
            <a:off x="7845552" y="3287268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3296" y="3191256"/>
            <a:ext cx="33284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0F172A"/>
                </a:solidFill>
                <a:latin typeface="Segoe UI"/>
              </a:rPr>
              <a:t>The bore must be cased deeper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3433572"/>
            <a:ext cx="33284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casing dominates the bill</a:t>
            </a:r>
          </a:p>
        </p:txBody>
      </p:sp>
      <p:sp>
        <p:nvSpPr>
          <p:cNvPr id="18" name="Oval 17"/>
          <p:cNvSpPr/>
          <p:nvPr/>
        </p:nvSpPr>
        <p:spPr>
          <a:xfrm>
            <a:off x="7845552" y="3927348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83296" y="3831336"/>
            <a:ext cx="33284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0F172A"/>
                </a:solidFill>
                <a:latin typeface="Segoe UI"/>
              </a:rPr>
              <a:t>And it is a depleting asset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4073652"/>
            <a:ext cx="33284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you buy N years, then repeat</a:t>
            </a:r>
          </a:p>
        </p:txBody>
      </p:sp>
      <p:sp>
        <p:nvSpPr>
          <p:cNvPr id="21" name="Oval 20"/>
          <p:cNvSpPr/>
          <p:nvPr/>
        </p:nvSpPr>
        <p:spPr>
          <a:xfrm>
            <a:off x="7845552" y="4567428"/>
            <a:ext cx="77724" cy="77724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3296" y="4471416"/>
            <a:ext cx="33284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0F172A"/>
                </a:solidFill>
                <a:latin typeface="Segoe UI"/>
              </a:rPr>
              <a:t>Real bores already go deep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4713732"/>
            <a:ext cx="33284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Segoe UI"/>
              </a:rPr>
              <a:t>median 210 m in the logs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1908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AquaCast-Punjab  ·  Sankalp — Climate-Smart Agriculture, Water &amp; Rural Credit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1908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94A3B8"/>
                </a:solidFill>
                <a:latin typeface="Segoe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0369A1"/>
                </a:solidFill>
                <a:latin typeface="Segoe UI"/>
              </a:rPr>
              <a:t>MODULES D &amp; 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64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0F172A"/>
                </a:solidFill>
                <a:latin typeface="Segoe UI"/>
              </a:rPr>
              <a:t>The money: what should the lender actually finance?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35024"/>
            <a:ext cx="658368" cy="50292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2615184" cy="122529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554480"/>
            <a:ext cx="50292" cy="1225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2203704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59E0B"/>
                </a:solidFill>
                <a:latin typeface="Segoe UI"/>
              </a:rPr>
              <a:t>21.2 yr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40864"/>
            <a:ext cx="22037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until the existing bore stops delivering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59152"/>
            <a:ext cx="2203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F59E0B"/>
                </a:solidFill>
                <a:latin typeface="Segoe UI"/>
              </a:rPr>
              <a:t>at 0.8 m/yr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1554480"/>
            <a:ext cx="2615184" cy="122529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01568" y="1554480"/>
            <a:ext cx="50292" cy="1225296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1737360"/>
            <a:ext cx="2203704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22C55E"/>
                </a:solidFill>
                <a:latin typeface="Segoe UI"/>
              </a:rPr>
              <a:t>₹1.1 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340864"/>
            <a:ext cx="22037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drip on the existing grid connection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359152"/>
            <a:ext cx="2203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22C55E"/>
                </a:solidFill>
                <a:latin typeface="Segoe UI"/>
              </a:rPr>
              <a:t>payback 3.7 yr · NPV ₹119,471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554480"/>
            <a:ext cx="2615184" cy="122529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554480"/>
            <a:ext cx="50292" cy="1225296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737360"/>
            <a:ext cx="2203704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EF4444"/>
                </a:solidFill>
                <a:latin typeface="Segoe UI"/>
              </a:rPr>
              <a:t>₹2.1 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340864"/>
            <a:ext cx="22037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deepening the bore instead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359152"/>
            <a:ext cx="2203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EF4444"/>
                </a:solidFill>
                <a:latin typeface="Segoe UI"/>
              </a:rPr>
              <a:t>payback 22.9 yr · NPV ₹-82,315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70848" y="1554480"/>
            <a:ext cx="2615184" cy="122529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70848" y="1554480"/>
            <a:ext cx="50292" cy="1225296"/>
          </a:xfrm>
          <a:prstGeom prst="rect">
            <a:avLst/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1737360"/>
            <a:ext cx="2203704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0369A1"/>
                </a:solidFill>
                <a:latin typeface="Segoe UI"/>
              </a:rPr>
              <a:t>269×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340864"/>
            <a:ext cx="22037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Segoe UI"/>
              </a:rPr>
              <a:t>finer than a GRACE cell, linearly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359152"/>
            <a:ext cx="2203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0369A1"/>
                </a:solidFill>
                <a:latin typeface="Segoe UI"/>
              </a:rPr>
              <a:t>384 m inputs vs 10,677 km²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090672"/>
            <a:ext cx="5532120" cy="23774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3090672"/>
            <a:ext cx="50292" cy="237744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27355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Verdict: Drip 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" y="3657600"/>
            <a:ext cx="50292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Deepening is not wrong, it is just badly timed. It costs ₹213,348 and its benefit does not begin until year 21.2 — after which it buys 28.8 years, and then you repeat.</a:t>
            </a:r>
            <a:r>
              <a:rPr sz="1100" b="0">
                <a:solidFill>
                  <a:srgbClr val="64748B"/>
                </a:solidFill>
                <a:latin typeface="Segoe UI"/>
              </a:rPr>
              <a:t>Drip pays from year one, and cut the draft that causes the decline: +13.0 years of bore life on the existing pump.</a:t>
            </a:r>
            <a:r>
              <a:rPr sz="1100" b="1">
                <a:solidFill>
                  <a:srgbClr val="0F172A"/>
                </a:solidFill>
                <a:latin typeface="Segoe UI"/>
              </a:rPr>
              <a:t>The solar pump is the worst of the three (NPV ₹-206,029) — not because solar is bad, but because Punjab's farm power is subsidised to ~zero, so it displaces electricity nobody was paying for.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6355080" y="3090672"/>
          <a:ext cx="5285232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328"/>
                <a:gridCol w="1389888"/>
                <a:gridCol w="1243584"/>
                <a:gridCol w="117043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System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Resolution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Lead time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Ends in an action?</a:t>
                      </a:r>
                    </a:p>
                  </a:txBody>
                  <a:tcPr marL="91440" marR="91440" marT="27432" marB="27432" anchor="ctr">
                    <a:solidFill>
                      <a:srgbClr val="0B1E3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NASA GRACE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~10,677 km²/cell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None — retrospective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CGWB India-WRIS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point wells, 4×/yr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None — 6–12 mo lag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PAU tensiometer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one field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Same day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Irrigate now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AquaCast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384 m inputs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30 / 60 / 90 days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Segoe UI"/>
                        </a:rPr>
                        <a:t>Yes — hours &amp; ₹</a:t>
                      </a:r>
                    </a:p>
                  </a:txBody>
                  <a:tcPr marL="91440" marR="91440" marT="27432" marB="27432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566928" y="641908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50" b="0">
                <a:solidFill>
                  <a:srgbClr val="94A3B8"/>
                </a:solidFill>
                <a:latin typeface="Segoe UI"/>
              </a:rPr>
              <a:t>AquaCast-Punjab  ·  Sankalp — Climate-Smart Agriculture, Water &amp; Rural Credit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19088"/>
            <a:ext cx="685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850" b="1">
                <a:solidFill>
                  <a:srgbClr val="94A3B8"/>
                </a:solidFill>
                <a:latin typeface="Segoe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EA5E9"/>
                </a:solidFill>
                <a:latin typeface="Segoe UI"/>
              </a:rPr>
              <a:t>THE ONE-LINER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106070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Segoe UI"/>
              </a:rPr>
              <a:t>Every other team will show you a groundwater chart.
We show a farmer which hours to pump, and a bank
which loan is about to go dry.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950208"/>
            <a:ext cx="2011680" cy="4114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224528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>
                <a:solidFill>
                  <a:srgbClr val="B6CDE0"/>
                </a:solidFill>
                <a:latin typeface="Segoe UI"/>
              </a:rPr>
              <a:t>0.099–0.117 m RMSE  ·  up to +70.9% skill  ·  3 districts  ·  122 wells scored  ·  1,828-day frame  ·  bilingual  ·  52,547-parameter PyTorch LSTM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742432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7DA2C4"/>
                </a:solidFill>
                <a:latin typeface="Segoe UI"/>
              </a:rPr>
              <a:t>Run it:  python3 run_pipeline.py   →   dashboard on :8501   ·   Verify it:  python3 tests/smoke_test.py   →   25 passed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